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2" r:id="rId7"/>
    <p:sldId id="259" r:id="rId8"/>
    <p:sldId id="263" r:id="rId9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44" autoAdjust="0"/>
    <p:restoredTop sz="94660"/>
  </p:normalViewPr>
  <p:slideViewPr>
    <p:cSldViewPr snapToGrid="0">
      <p:cViewPr>
        <p:scale>
          <a:sx n="75" d="100"/>
          <a:sy n="75" d="100"/>
        </p:scale>
        <p:origin x="88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4139-24CE-43D7-A2F5-A66219BB5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9822C8-E44D-4586-9A76-FD48151C76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E3014-53C4-41A3-9DC0-9114B60C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7DDC-5D11-4CF9-AD28-01332F84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3B7CA-9A13-4734-AAA6-DFFE070F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263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4CC8-C6C3-4166-BD68-DBE0C0C1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2240-B5C5-4672-8E0D-675B7BD64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49207-8E72-414D-BC01-F11819485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94F6-6C14-4AEA-98DF-875933DE7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A4AE5-E543-4C5A-8B91-3CCEED8F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824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97E63-FF6C-49E9-A6B5-4CA0F9FEF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F795C-8A63-44F3-A1B8-9B25889F1A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0A12D-C88A-4344-85C5-1EC56233E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0902-FFC2-4646-ADB6-2E03FBDC5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79CD-A762-46DB-A08D-9A52A87C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406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7FA6-F89C-451F-AD51-8AD94F57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66002-93B9-4273-8093-159CF53CCF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0B66F-5986-4CF5-9944-BA60407F4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40E8A-6147-400B-A4A2-855517040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32953-9153-41B3-A8A3-A74E8A236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03D80-3CB0-48A8-9EC9-C7B1CE7C9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233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A81-BDB8-466C-BB95-4448EEC05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44740-DCD6-48D2-B252-50EF9457D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02B93-1C19-4F12-8BC8-3274BAA44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FBE56-B545-41C2-A45B-87D9E3DCA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DF088-A9CE-4ADC-9A07-A6C719A97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6C65D1-E1A8-4044-9806-8087EAD6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99E8D8-E2F9-4C78-BC35-DD05AA307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66520-8A82-4F7A-8898-4AC571B5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17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1F1DA-2B3E-4173-AD69-1A5D6C756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89378B-9BEB-4522-A4E1-8DD5B6BEB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F98902-05B0-4472-AB38-DA7E0C0F7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25AD-ED10-4835-9A98-2E6FD8527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0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A7769A-4ECD-4180-89C7-93C771495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B56BC6-979D-4A56-8E98-7936F64E7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A0B78-CD03-43FA-BEA8-20CC402AA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35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E7EF-4E54-43E9-85DE-01A47F69D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A7E76-4359-4757-A2B9-476472048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2A6461-564F-4278-80F5-A35C863C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B7400-2053-44FD-BC88-4FC3930E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EFA72-5F53-490A-9DD7-45AD7CCB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2F842-4E19-42D3-AB33-8634E39C9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524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3D4E2-C33B-4CD3-B46D-5916E240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AA9BB-D766-4ADB-936C-D924FB8568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4D79E9-5FF7-4849-ABBF-07BC55F98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81A00-335E-421A-A05D-704F826DA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4A5BF-43FF-45C8-B118-7FA65F047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2965F-4889-40A1-88C8-E6741BE9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69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7680F-5290-43DA-91BB-DE9275A9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75FBC-BB49-4679-8EBF-3F138F724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FA129-9A20-477F-811F-5AA175B86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60CC7-5CBC-44C9-B785-468E27F8B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8EFC8-5DB1-4359-BF18-3D7DC2019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677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211DBB-BDD8-4DDF-A29D-C6C50A6E6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C53425-2B8E-41AD-A874-CFF3B24A4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9CADA-AF9C-4753-9CE2-FA4367039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B7CC-3BA8-42C6-BF9F-530638CF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45518-7BA3-49E0-9D80-D20BAA07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04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EB3C54-73A1-4E6F-93C6-31952155C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342FE-075D-4656-919E-F8CA39B86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6CDF1-9DCB-4BE8-A733-3F2EED505C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5682CF-FAD7-4BD3-8747-1696A45B068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56DD4-3CAD-4D05-8818-33CD95D1F2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BE85D-4262-46FA-A92F-CDE6840D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56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3.svg"/><Relationship Id="rId5" Type="http://schemas.openxmlformats.org/officeDocument/2006/relationships/image" Target="../media/image5.sv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1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A13F-BDB2-463F-AD4F-E473D7289A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51616"/>
            <a:ext cx="9144000" cy="1140605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BIAM Feedback and Hostel Management</a:t>
            </a:r>
            <a:br>
              <a:rPr lang="en-US" sz="2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</a:br>
            <a:br>
              <a:rPr lang="en-US" sz="2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</a:br>
            <a:r>
              <a:rPr lang="en-US" sz="14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15/02/2026</a:t>
            </a:r>
          </a:p>
        </p:txBody>
      </p:sp>
      <p:pic>
        <p:nvPicPr>
          <p:cNvPr id="1028" name="Picture 4" descr="BIAM Foundation | Dhaka">
            <a:extLst>
              <a:ext uri="{FF2B5EF4-FFF2-40B4-BE49-F238E27FC236}">
                <a16:creationId xmlns:a16="http://schemas.microsoft.com/office/drawing/2014/main" id="{887CC4B7-4439-4C86-992A-CDE7CEA8F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0377" y="1807310"/>
            <a:ext cx="1316084" cy="1140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858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75">
            <a:extLst>
              <a:ext uri="{FF2B5EF4-FFF2-40B4-BE49-F238E27FC236}">
                <a16:creationId xmlns:a16="http://schemas.microsoft.com/office/drawing/2014/main" id="{0C492EFC-6D53-44DA-9BB2-E6492B3C12C3}"/>
              </a:ext>
            </a:extLst>
          </p:cNvPr>
          <p:cNvSpPr/>
          <p:nvPr/>
        </p:nvSpPr>
        <p:spPr>
          <a:xfrm>
            <a:off x="8216899" y="3774742"/>
            <a:ext cx="3670299" cy="20811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294C26F-1989-438C-848C-C3E5A2679AFC}"/>
              </a:ext>
            </a:extLst>
          </p:cNvPr>
          <p:cNvSpPr/>
          <p:nvPr/>
        </p:nvSpPr>
        <p:spPr>
          <a:xfrm>
            <a:off x="7581239" y="1002103"/>
            <a:ext cx="1788944" cy="120913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A3E7DDD5-EC12-49FF-8C9B-030CB74C1D8A}"/>
              </a:ext>
            </a:extLst>
          </p:cNvPr>
          <p:cNvSpPr/>
          <p:nvPr/>
        </p:nvSpPr>
        <p:spPr>
          <a:xfrm>
            <a:off x="9916344" y="325146"/>
            <a:ext cx="1857229" cy="121155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2054" y="151516"/>
            <a:ext cx="5313953" cy="25264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High Level Overview (Updated: 15/02/2026) - Running</a:t>
            </a:r>
            <a:br>
              <a:rPr lang="en-US" sz="1400" b="1" dirty="0">
                <a:solidFill>
                  <a:srgbClr val="00B05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</a:br>
            <a:endParaRPr lang="en-US" sz="1400" b="1" dirty="0">
              <a:solidFill>
                <a:srgbClr val="00B050"/>
              </a:solidFill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B71339BF-84EB-4FAA-9F2C-67677E754C47}"/>
              </a:ext>
            </a:extLst>
          </p:cNvPr>
          <p:cNvSpPr/>
          <p:nvPr/>
        </p:nvSpPr>
        <p:spPr>
          <a:xfrm>
            <a:off x="423082" y="887106"/>
            <a:ext cx="423080" cy="423080"/>
          </a:xfrm>
          <a:prstGeom prst="smileyFac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F672EB78-A3B3-40C3-BD87-518C75E823A1}"/>
              </a:ext>
            </a:extLst>
          </p:cNvPr>
          <p:cNvSpPr/>
          <p:nvPr/>
        </p:nvSpPr>
        <p:spPr>
          <a:xfrm>
            <a:off x="1364777" y="887106"/>
            <a:ext cx="914400" cy="423080"/>
          </a:xfrm>
          <a:prstGeom prst="flowChartPredefined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Login (/login)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C130BC-5B3A-4294-B8A5-2263105CF140}"/>
              </a:ext>
            </a:extLst>
          </p:cNvPr>
          <p:cNvCxnSpPr/>
          <p:nvPr/>
        </p:nvCxnSpPr>
        <p:spPr>
          <a:xfrm>
            <a:off x="900752" y="1098646"/>
            <a:ext cx="3548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8CA756A-53A8-49EF-9033-947838E8799D}"/>
              </a:ext>
            </a:extLst>
          </p:cNvPr>
          <p:cNvSpPr/>
          <p:nvPr/>
        </p:nvSpPr>
        <p:spPr>
          <a:xfrm>
            <a:off x="2934267" y="852986"/>
            <a:ext cx="1473960" cy="4572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Feedback Form (/)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AA83C1-BA4A-4F04-A1C9-4383BFB99029}"/>
              </a:ext>
            </a:extLst>
          </p:cNvPr>
          <p:cNvCxnSpPr/>
          <p:nvPr/>
        </p:nvCxnSpPr>
        <p:spPr>
          <a:xfrm>
            <a:off x="2374710" y="1098646"/>
            <a:ext cx="4640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0B70951-EB1D-4855-A514-BB8ED1C2B162}"/>
              </a:ext>
            </a:extLst>
          </p:cNvPr>
          <p:cNvSpPr/>
          <p:nvPr/>
        </p:nvSpPr>
        <p:spPr>
          <a:xfrm>
            <a:off x="5017405" y="407871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Home </a:t>
            </a:r>
            <a:r>
              <a:rPr lang="en-US" sz="8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(/) 308</a:t>
            </a:r>
            <a:endParaRPr lang="en-US" sz="1000" dirty="0">
              <a:solidFill>
                <a:srgbClr val="FF0000"/>
              </a:solidFill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D26E7933-718C-4C2B-A9A7-81ADEDE8CF4C}"/>
              </a:ext>
            </a:extLst>
          </p:cNvPr>
          <p:cNvSpPr/>
          <p:nvPr/>
        </p:nvSpPr>
        <p:spPr>
          <a:xfrm>
            <a:off x="1444888" y="1958405"/>
            <a:ext cx="914400" cy="696036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feedback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16D01C-3EB6-44E5-AFED-33BFE2804968}"/>
              </a:ext>
            </a:extLst>
          </p:cNvPr>
          <p:cNvSpPr/>
          <p:nvPr/>
        </p:nvSpPr>
        <p:spPr>
          <a:xfrm>
            <a:off x="5016135" y="762662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Hostel </a:t>
            </a:r>
            <a:r>
              <a:rPr lang="en-US" sz="8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</a:t>
            </a:r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A3B91D-CC08-49BF-ABA0-CEB4DE932643}"/>
              </a:ext>
            </a:extLst>
          </p:cNvPr>
          <p:cNvSpPr/>
          <p:nvPr/>
        </p:nvSpPr>
        <p:spPr>
          <a:xfrm>
            <a:off x="5010441" y="1117453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Report </a:t>
            </a:r>
            <a:r>
              <a:rPr lang="en-US" sz="800" dirty="0">
                <a:latin typeface="Inter 18pt" panose="02000503000000020004" pitchFamily="2" charset="0"/>
                <a:ea typeface="Inter 18pt" panose="02000503000000020004" pitchFamily="2" charset="0"/>
              </a:rPr>
              <a:t>(/admin/report)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EDB70C-CBC1-461E-B78C-BAD616191695}"/>
              </a:ext>
            </a:extLst>
          </p:cNvPr>
          <p:cNvCxnSpPr>
            <a:cxnSpLocks/>
          </p:cNvCxnSpPr>
          <p:nvPr/>
        </p:nvCxnSpPr>
        <p:spPr>
          <a:xfrm flipV="1">
            <a:off x="4401877" y="622300"/>
            <a:ext cx="544773" cy="452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C7D481A-CC26-4CD6-BAE6-5E58DF2658CC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408227" y="935536"/>
            <a:ext cx="578698" cy="146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A288D3-CC0B-4CF0-B01F-F3CBB3DE96F1}"/>
              </a:ext>
            </a:extLst>
          </p:cNvPr>
          <p:cNvCxnSpPr>
            <a:cxnSpLocks/>
          </p:cNvCxnSpPr>
          <p:nvPr/>
        </p:nvCxnSpPr>
        <p:spPr>
          <a:xfrm>
            <a:off x="4414577" y="1100539"/>
            <a:ext cx="559648" cy="146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46689D72-92E4-453C-8D40-A0056FB4C088}"/>
              </a:ext>
            </a:extLst>
          </p:cNvPr>
          <p:cNvSpPr/>
          <p:nvPr/>
        </p:nvSpPr>
        <p:spPr>
          <a:xfrm>
            <a:off x="6414260" y="403108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Check-in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(/admin/hostel/check-in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23CFAA-01CB-4178-91A6-68CB3890EDE0}"/>
              </a:ext>
            </a:extLst>
          </p:cNvPr>
          <p:cNvSpPr/>
          <p:nvPr/>
        </p:nvSpPr>
        <p:spPr>
          <a:xfrm>
            <a:off x="7944610" y="411544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Checkout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(/admin/hostel/checkout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BD70B4-AB21-4771-A435-41ABE5BF4D1A}"/>
              </a:ext>
            </a:extLst>
          </p:cNvPr>
          <p:cNvSpPr/>
          <p:nvPr/>
        </p:nvSpPr>
        <p:spPr>
          <a:xfrm>
            <a:off x="2934267" y="1573023"/>
            <a:ext cx="578697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SMS</a:t>
            </a: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C76C772-7F42-436B-B3DD-2C9290814D25}"/>
              </a:ext>
            </a:extLst>
          </p:cNvPr>
          <p:cNvCxnSpPr>
            <a:stCxn id="18" idx="3"/>
            <a:endCxn id="34" idx="1"/>
          </p:cNvCxnSpPr>
          <p:nvPr/>
        </p:nvCxnSpPr>
        <p:spPr>
          <a:xfrm flipV="1">
            <a:off x="5930535" y="562570"/>
            <a:ext cx="483725" cy="35955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45994ED3-8A66-43B0-89A1-D1EA8FA2BF56}"/>
              </a:ext>
            </a:extLst>
          </p:cNvPr>
          <p:cNvCxnSpPr>
            <a:cxnSpLocks/>
          </p:cNvCxnSpPr>
          <p:nvPr/>
        </p:nvCxnSpPr>
        <p:spPr>
          <a:xfrm flipV="1">
            <a:off x="6172397" y="710080"/>
            <a:ext cx="2459600" cy="204356"/>
          </a:xfrm>
          <a:prstGeom prst="bentConnector3">
            <a:avLst>
              <a:gd name="adj1" fmla="val 10008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264840F8-1014-4A74-8397-AFE08A28D649}"/>
              </a:ext>
            </a:extLst>
          </p:cNvPr>
          <p:cNvSpPr/>
          <p:nvPr/>
        </p:nvSpPr>
        <p:spPr>
          <a:xfrm>
            <a:off x="7657441" y="1072997"/>
            <a:ext cx="163017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Guest Feedback Report </a:t>
            </a:r>
          </a:p>
          <a:p>
            <a:pPr algn="ctr"/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(POST /admin/report/generate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C78C27C-8504-455A-974D-67B2162F1DB9}"/>
              </a:ext>
            </a:extLst>
          </p:cNvPr>
          <p:cNvSpPr/>
          <p:nvPr/>
        </p:nvSpPr>
        <p:spPr>
          <a:xfrm>
            <a:off x="7657440" y="1444761"/>
            <a:ext cx="1630171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Occupancies</a:t>
            </a:r>
          </a:p>
          <a:p>
            <a:pPr algn="ctr"/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(GET /admin/report/{query}{msg}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5B93571-2D42-4E2E-A3B7-A34E0154DF70}"/>
              </a:ext>
            </a:extLst>
          </p:cNvPr>
          <p:cNvSpPr/>
          <p:nvPr/>
        </p:nvSpPr>
        <p:spPr>
          <a:xfrm>
            <a:off x="7657439" y="1816525"/>
            <a:ext cx="1630171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Vacancies</a:t>
            </a:r>
          </a:p>
          <a:p>
            <a:pPr algn="ctr"/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(GET /admin/report/{query}{msg}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5458EF7E-4337-4FD5-B4CF-AF525A7A8744}"/>
              </a:ext>
            </a:extLst>
          </p:cNvPr>
          <p:cNvCxnSpPr>
            <a:stCxn id="19" idx="3"/>
            <a:endCxn id="59" idx="1"/>
          </p:cNvCxnSpPr>
          <p:nvPr/>
        </p:nvCxnSpPr>
        <p:spPr>
          <a:xfrm flipV="1">
            <a:off x="5924841" y="1232459"/>
            <a:ext cx="1732600" cy="444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B649ECFE-9819-461A-95BD-3847DE31ECA7}"/>
              </a:ext>
            </a:extLst>
          </p:cNvPr>
          <p:cNvCxnSpPr>
            <a:cxnSpLocks/>
            <a:stCxn id="19" idx="3"/>
            <a:endCxn id="60" idx="1"/>
          </p:cNvCxnSpPr>
          <p:nvPr/>
        </p:nvCxnSpPr>
        <p:spPr>
          <a:xfrm>
            <a:off x="5924841" y="1276915"/>
            <a:ext cx="1732599" cy="3273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279630D-D6DF-4253-AAE4-1F04B88C2EB2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96360" y="1462148"/>
            <a:ext cx="5155730" cy="914192"/>
          </a:xfrm>
          <a:prstGeom prst="bentConnector3">
            <a:avLst>
              <a:gd name="adj1" fmla="val 25382"/>
            </a:avLst>
          </a:prstGeom>
          <a:ln w="9525" cap="flat" cmpd="sng" algn="ctr">
            <a:solidFill>
              <a:schemeClr val="accent6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6" name="Cylinder 85">
            <a:extLst>
              <a:ext uri="{FF2B5EF4-FFF2-40B4-BE49-F238E27FC236}">
                <a16:creationId xmlns:a16="http://schemas.microsoft.com/office/drawing/2014/main" id="{02C244C3-C8A9-43C3-9F62-616669CFA14B}"/>
              </a:ext>
            </a:extLst>
          </p:cNvPr>
          <p:cNvSpPr/>
          <p:nvPr/>
        </p:nvSpPr>
        <p:spPr>
          <a:xfrm>
            <a:off x="1443860" y="2754338"/>
            <a:ext cx="914400" cy="814362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Users</a:t>
            </a: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AB5B4FC7-3EC5-433F-9E78-82137F388467}"/>
              </a:ext>
            </a:extLst>
          </p:cNvPr>
          <p:cNvCxnSpPr>
            <a:cxnSpLocks/>
            <a:stCxn id="7" idx="2"/>
          </p:cNvCxnSpPr>
          <p:nvPr/>
        </p:nvCxnSpPr>
        <p:spPr>
          <a:xfrm rot="5400000">
            <a:off x="2565164" y="1133385"/>
            <a:ext cx="929282" cy="1282885"/>
          </a:xfrm>
          <a:prstGeom prst="bentConnector2">
            <a:avLst/>
          </a:prstGeom>
          <a:ln>
            <a:prstDash val="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6B37E2A1-150D-4226-9AF4-60A0EC4FD269}"/>
              </a:ext>
            </a:extLst>
          </p:cNvPr>
          <p:cNvCxnSpPr/>
          <p:nvPr/>
        </p:nvCxnSpPr>
        <p:spPr>
          <a:xfrm>
            <a:off x="3219736" y="1359131"/>
            <a:ext cx="0" cy="185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3E743A4-DEAA-4EA2-BE95-2B27BB9C52B8}"/>
              </a:ext>
            </a:extLst>
          </p:cNvPr>
          <p:cNvCxnSpPr>
            <a:cxnSpLocks/>
          </p:cNvCxnSpPr>
          <p:nvPr/>
        </p:nvCxnSpPr>
        <p:spPr>
          <a:xfrm rot="5400000">
            <a:off x="2718732" y="1596871"/>
            <a:ext cx="182512" cy="827256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CB96192-EB7C-40D9-9667-0CAD83A84AD4}"/>
              </a:ext>
            </a:extLst>
          </p:cNvPr>
          <p:cNvSpPr/>
          <p:nvPr/>
        </p:nvSpPr>
        <p:spPr>
          <a:xfrm>
            <a:off x="9992544" y="764566"/>
            <a:ext cx="1714377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Update </a:t>
            </a:r>
          </a:p>
          <a:p>
            <a:pPr algn="ctr"/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(POST /admin/check-in/{id}/refresh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pic>
        <p:nvPicPr>
          <p:cNvPr id="108" name="Graphic 107" descr="Lock">
            <a:extLst>
              <a:ext uri="{FF2B5EF4-FFF2-40B4-BE49-F238E27FC236}">
                <a16:creationId xmlns:a16="http://schemas.microsoft.com/office/drawing/2014/main" id="{21AE184C-35E1-4750-A828-249E3E949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83795" y="798752"/>
            <a:ext cx="152400" cy="152400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C00FF75-46A2-449C-9AC9-49F270E479F7}"/>
              </a:ext>
            </a:extLst>
          </p:cNvPr>
          <p:cNvGrpSpPr/>
          <p:nvPr/>
        </p:nvGrpSpPr>
        <p:grpSpPr>
          <a:xfrm>
            <a:off x="9992545" y="1167203"/>
            <a:ext cx="1714376" cy="318924"/>
            <a:chOff x="9319383" y="4532012"/>
            <a:chExt cx="1714376" cy="318924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A21E7F8-F52A-4C78-B079-8BE4AFE40705}"/>
                </a:ext>
              </a:extLst>
            </p:cNvPr>
            <p:cNvSpPr/>
            <p:nvPr/>
          </p:nvSpPr>
          <p:spPr>
            <a:xfrm>
              <a:off x="9319383" y="4532012"/>
              <a:ext cx="1714376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Delete 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/admin/check-in/{id}/minus</a:t>
              </a:r>
              <a:r>
                <a:rPr lang="en-US" sz="900" dirty="0">
                  <a:latin typeface="Inter 18pt" panose="02000503000000020004" pitchFamily="2" charset="0"/>
                  <a:ea typeface="Inter 18pt" panose="02000503000000020004" pitchFamily="2" charset="0"/>
                </a:rPr>
                <a:t>)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pic>
          <p:nvPicPr>
            <p:cNvPr id="109" name="Graphic 108" descr="Lock">
              <a:extLst>
                <a:ext uri="{FF2B5EF4-FFF2-40B4-BE49-F238E27FC236}">
                  <a16:creationId xmlns:a16="http://schemas.microsoft.com/office/drawing/2014/main" id="{15162385-F98D-4470-A21C-F5827F3AA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37421" y="4539074"/>
              <a:ext cx="152400" cy="152400"/>
            </a:xfrm>
            <a:prstGeom prst="rect">
              <a:avLst/>
            </a:prstGeom>
          </p:spPr>
        </p:pic>
        <p:pic>
          <p:nvPicPr>
            <p:cNvPr id="111" name="Graphic 110" descr="Key">
              <a:extLst>
                <a:ext uri="{FF2B5EF4-FFF2-40B4-BE49-F238E27FC236}">
                  <a16:creationId xmlns:a16="http://schemas.microsoft.com/office/drawing/2014/main" id="{DC03482A-4BAA-49CF-8D10-C8ADF69A8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650731" y="4542884"/>
              <a:ext cx="181516" cy="181516"/>
            </a:xfrm>
            <a:prstGeom prst="rect">
              <a:avLst/>
            </a:prstGeom>
          </p:spPr>
        </p:pic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DE38839-26B5-4501-86F7-48A87346CBAF}"/>
              </a:ext>
            </a:extLst>
          </p:cNvPr>
          <p:cNvGrpSpPr/>
          <p:nvPr/>
        </p:nvGrpSpPr>
        <p:grpSpPr>
          <a:xfrm>
            <a:off x="9992545" y="375946"/>
            <a:ext cx="1714376" cy="318924"/>
            <a:chOff x="9319383" y="3740755"/>
            <a:chExt cx="1714376" cy="318924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8237E889-DCFF-4C2A-8E89-F7D7BAC9586B}"/>
                </a:ext>
              </a:extLst>
            </p:cNvPr>
            <p:cNvSpPr/>
            <p:nvPr/>
          </p:nvSpPr>
          <p:spPr>
            <a:xfrm>
              <a:off x="9319383" y="3740755"/>
              <a:ext cx="1714376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Create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/admin/check-in/plus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pic>
          <p:nvPicPr>
            <p:cNvPr id="114" name="Graphic 113" descr="Key">
              <a:extLst>
                <a:ext uri="{FF2B5EF4-FFF2-40B4-BE49-F238E27FC236}">
                  <a16:creationId xmlns:a16="http://schemas.microsoft.com/office/drawing/2014/main" id="{D55D9960-D172-4BE3-94D1-BBF3BCFF2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85446" y="3753549"/>
              <a:ext cx="181516" cy="181516"/>
            </a:xfrm>
            <a:prstGeom prst="rect">
              <a:avLst/>
            </a:prstGeom>
          </p:spPr>
        </p:pic>
      </p:grp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91D3CCA-EF43-442F-8D0A-E7FBDC0D9E81}"/>
              </a:ext>
            </a:extLst>
          </p:cNvPr>
          <p:cNvSpPr/>
          <p:nvPr/>
        </p:nvSpPr>
        <p:spPr>
          <a:xfrm>
            <a:off x="4683678" y="2171729"/>
            <a:ext cx="914400" cy="4265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Cache</a:t>
            </a:r>
          </a:p>
        </p:txBody>
      </p:sp>
      <p:sp>
        <p:nvSpPr>
          <p:cNvPr id="132" name="Diamond 131">
            <a:extLst>
              <a:ext uri="{FF2B5EF4-FFF2-40B4-BE49-F238E27FC236}">
                <a16:creationId xmlns:a16="http://schemas.microsoft.com/office/drawing/2014/main" id="{E373C9BB-68A5-4523-9D8F-F37D34C24326}"/>
              </a:ext>
            </a:extLst>
          </p:cNvPr>
          <p:cNvSpPr/>
          <p:nvPr/>
        </p:nvSpPr>
        <p:spPr>
          <a:xfrm>
            <a:off x="4683678" y="2754338"/>
            <a:ext cx="914400" cy="9144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pic>
        <p:nvPicPr>
          <p:cNvPr id="134" name="Graphic 133" descr="Skull">
            <a:extLst>
              <a:ext uri="{FF2B5EF4-FFF2-40B4-BE49-F238E27FC236}">
                <a16:creationId xmlns:a16="http://schemas.microsoft.com/office/drawing/2014/main" id="{0E4A109D-41EC-43BC-8012-5C9787371D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9641" y="3009119"/>
            <a:ext cx="355600" cy="355600"/>
          </a:xfrm>
          <a:prstGeom prst="rect">
            <a:avLst/>
          </a:prstGeom>
        </p:spPr>
      </p:pic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DA462DD5-5D3C-4608-BE23-AD3EF2499166}"/>
              </a:ext>
            </a:extLst>
          </p:cNvPr>
          <p:cNvCxnSpPr/>
          <p:nvPr/>
        </p:nvCxnSpPr>
        <p:spPr>
          <a:xfrm flipV="1">
            <a:off x="7150100" y="138816"/>
            <a:ext cx="0" cy="262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6BB50AF-2466-4E93-9298-35DECA62B3D2}"/>
              </a:ext>
            </a:extLst>
          </p:cNvPr>
          <p:cNvCxnSpPr>
            <a:endCxn id="147" idx="0"/>
          </p:cNvCxnSpPr>
          <p:nvPr/>
        </p:nvCxnSpPr>
        <p:spPr>
          <a:xfrm>
            <a:off x="7150100" y="138816"/>
            <a:ext cx="3694859" cy="1863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E252A5CE-9416-400B-A4E9-400D439F0FE9}"/>
              </a:ext>
            </a:extLst>
          </p:cNvPr>
          <p:cNvCxnSpPr>
            <a:cxnSpLocks/>
            <a:stCxn id="106" idx="2"/>
            <a:endCxn id="132" idx="3"/>
          </p:cNvCxnSpPr>
          <p:nvPr/>
        </p:nvCxnSpPr>
        <p:spPr>
          <a:xfrm rot="5400000">
            <a:off x="7361201" y="-276995"/>
            <a:ext cx="1725411" cy="5251655"/>
          </a:xfrm>
          <a:prstGeom prst="bentConnector2">
            <a:avLst/>
          </a:prstGeom>
          <a:ln>
            <a:solidFill>
              <a:srgbClr val="F61212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13B9618-B6C8-4171-A68E-7B3CF395416B}"/>
              </a:ext>
            </a:extLst>
          </p:cNvPr>
          <p:cNvSpPr/>
          <p:nvPr/>
        </p:nvSpPr>
        <p:spPr>
          <a:xfrm>
            <a:off x="5718410" y="2886008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Request Filters</a:t>
            </a:r>
          </a:p>
        </p:txBody>
      </p:sp>
      <p:sp>
        <p:nvSpPr>
          <p:cNvPr id="169" name="Cylinder 168">
            <a:extLst>
              <a:ext uri="{FF2B5EF4-FFF2-40B4-BE49-F238E27FC236}">
                <a16:creationId xmlns:a16="http://schemas.microsoft.com/office/drawing/2014/main" id="{C1226365-FED1-45DA-A25B-1AF4B54CAE51}"/>
              </a:ext>
            </a:extLst>
          </p:cNvPr>
          <p:cNvSpPr/>
          <p:nvPr/>
        </p:nvSpPr>
        <p:spPr>
          <a:xfrm>
            <a:off x="1443860" y="3696599"/>
            <a:ext cx="914400" cy="814362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Checkout</a:t>
            </a: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5AAD2A1-BB69-479B-9ECE-F9EF8CB849D7}"/>
              </a:ext>
            </a:extLst>
          </p:cNvPr>
          <p:cNvGrpSpPr/>
          <p:nvPr/>
        </p:nvGrpSpPr>
        <p:grpSpPr>
          <a:xfrm>
            <a:off x="8327867" y="3876859"/>
            <a:ext cx="3445706" cy="1873083"/>
            <a:chOff x="8568494" y="3876859"/>
            <a:chExt cx="3445706" cy="1873083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F669DB-9DCF-46DE-B817-5AD2437205DD}"/>
                </a:ext>
              </a:extLst>
            </p:cNvPr>
            <p:cNvSpPr/>
            <p:nvPr/>
          </p:nvSpPr>
          <p:spPr>
            <a:xfrm>
              <a:off x="8568497" y="3876859"/>
              <a:ext cx="3445703" cy="60624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Verify Guest (With phone) 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Status != checked out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(GET /admin/hostel/checkout/{phone})</a:t>
              </a: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33BFEF60-5FF7-460D-B648-9308A45D84B6}"/>
                </a:ext>
              </a:extLst>
            </p:cNvPr>
            <p:cNvSpPr/>
            <p:nvPr/>
          </p:nvSpPr>
          <p:spPr>
            <a:xfrm>
              <a:off x="8568494" y="4732450"/>
              <a:ext cx="3445703" cy="33810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Calculate Stayed, Discount, VAT &amp; Tax, Total Bill  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5333A662-0E51-4864-966F-BF96B5613597}"/>
                </a:ext>
              </a:extLst>
            </p:cNvPr>
            <p:cNvSpPr/>
            <p:nvPr/>
          </p:nvSpPr>
          <p:spPr>
            <a:xfrm>
              <a:off x="8568495" y="5294501"/>
              <a:ext cx="3445703" cy="4554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Confirm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/admin/hostel/checkout/{phone})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 </a:t>
              </a:r>
            </a:p>
          </p:txBody>
        </p: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750E22-0C9F-4E9A-A563-D30F619C0DE7}"/>
                </a:ext>
              </a:extLst>
            </p:cNvPr>
            <p:cNvCxnSpPr/>
            <p:nvPr/>
          </p:nvCxnSpPr>
          <p:spPr>
            <a:xfrm>
              <a:off x="10128541" y="5070551"/>
              <a:ext cx="0" cy="192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C7C2DF44-77DB-4486-8931-2FD62A5F69FD}"/>
                </a:ext>
              </a:extLst>
            </p:cNvPr>
            <p:cNvCxnSpPr/>
            <p:nvPr/>
          </p:nvCxnSpPr>
          <p:spPr>
            <a:xfrm>
              <a:off x="10128541" y="4498261"/>
              <a:ext cx="0" cy="192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9236E1FC-6E6A-46A6-9013-21918B74EEDA}"/>
              </a:ext>
            </a:extLst>
          </p:cNvPr>
          <p:cNvCxnSpPr>
            <a:stCxn id="132" idx="0"/>
          </p:cNvCxnSpPr>
          <p:nvPr/>
        </p:nvCxnSpPr>
        <p:spPr>
          <a:xfrm rot="16200000" flipH="1" flipV="1">
            <a:off x="3702784" y="1447913"/>
            <a:ext cx="131670" cy="2744519"/>
          </a:xfrm>
          <a:prstGeom prst="bentConnector4">
            <a:avLst>
              <a:gd name="adj1" fmla="val -9645"/>
              <a:gd name="adj2" fmla="val 58329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 195">
            <a:extLst>
              <a:ext uri="{FF2B5EF4-FFF2-40B4-BE49-F238E27FC236}">
                <a16:creationId xmlns:a16="http://schemas.microsoft.com/office/drawing/2014/main" id="{80C9E733-A271-41CD-8066-C0C1707A4BB5}"/>
              </a:ext>
            </a:extLst>
          </p:cNvPr>
          <p:cNvSpPr/>
          <p:nvPr/>
        </p:nvSpPr>
        <p:spPr>
          <a:xfrm>
            <a:off x="3058617" y="3935005"/>
            <a:ext cx="1225259" cy="6731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latin typeface="Inter 18pt" panose="02000503000000020004" pitchFamily="2" charset="0"/>
                <a:ea typeface="Inter 18pt" panose="02000503000000020004" pitchFamily="2" charset="0"/>
              </a:rPr>
              <a:t>Transection</a:t>
            </a:r>
          </a:p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Create Checkout</a:t>
            </a:r>
          </a:p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Update Users</a:t>
            </a:r>
          </a:p>
          <a:p>
            <a:pPr algn="ctr"/>
            <a:r>
              <a:rPr lang="en-US" sz="1000" b="1" dirty="0">
                <a:solidFill>
                  <a:srgbClr val="C0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Roll back if fail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B0A7D101-3172-4286-8E4F-6E1B89BBDCC0}"/>
              </a:ext>
            </a:extLst>
          </p:cNvPr>
          <p:cNvCxnSpPr>
            <a:cxnSpLocks/>
            <a:endCxn id="132" idx="2"/>
          </p:cNvCxnSpPr>
          <p:nvPr/>
        </p:nvCxnSpPr>
        <p:spPr>
          <a:xfrm rot="10800000">
            <a:off x="5140879" y="3668738"/>
            <a:ext cx="3186991" cy="187873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BF22DAD2-9CEE-4A7D-8D64-D24D4729B20C}"/>
              </a:ext>
            </a:extLst>
          </p:cNvPr>
          <p:cNvCxnSpPr>
            <a:stCxn id="196" idx="1"/>
            <a:endCxn id="169" idx="3"/>
          </p:cNvCxnSpPr>
          <p:nvPr/>
        </p:nvCxnSpPr>
        <p:spPr>
          <a:xfrm rot="10800000" flipV="1">
            <a:off x="1901061" y="4271555"/>
            <a:ext cx="1157557" cy="239405"/>
          </a:xfrm>
          <a:prstGeom prst="bentConnector4">
            <a:avLst>
              <a:gd name="adj1" fmla="val 30251"/>
              <a:gd name="adj2" fmla="val 23606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2257CE29-C29B-418D-B4C0-81F9D69A5FDF}"/>
              </a:ext>
            </a:extLst>
          </p:cNvPr>
          <p:cNvCxnSpPr>
            <a:stCxn id="132" idx="1"/>
            <a:endCxn id="196" idx="3"/>
          </p:cNvCxnSpPr>
          <p:nvPr/>
        </p:nvCxnSpPr>
        <p:spPr>
          <a:xfrm rot="10800000" flipV="1">
            <a:off x="4283876" y="3211538"/>
            <a:ext cx="399802" cy="1060018"/>
          </a:xfrm>
          <a:prstGeom prst="bentConnector3">
            <a:avLst/>
          </a:prstGeom>
          <a:ln>
            <a:solidFill>
              <a:srgbClr val="F6121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Rectangle 212">
            <a:extLst>
              <a:ext uri="{FF2B5EF4-FFF2-40B4-BE49-F238E27FC236}">
                <a16:creationId xmlns:a16="http://schemas.microsoft.com/office/drawing/2014/main" id="{04DA05B2-2E82-4FF6-883C-A5092D783884}"/>
              </a:ext>
            </a:extLst>
          </p:cNvPr>
          <p:cNvSpPr/>
          <p:nvPr/>
        </p:nvSpPr>
        <p:spPr>
          <a:xfrm>
            <a:off x="3074393" y="3101474"/>
            <a:ext cx="1225257" cy="526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latin typeface="Inter 18pt" panose="02000503000000020004" pitchFamily="2" charset="0"/>
                <a:ea typeface="Inter 18pt" panose="02000503000000020004" pitchFamily="2" charset="0"/>
              </a:rPr>
              <a:t>Update Status: </a:t>
            </a:r>
          </a:p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Checked out</a:t>
            </a:r>
          </a:p>
        </p:txBody>
      </p: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FFF3204A-1EFF-4279-8D80-BFD1B566B177}"/>
              </a:ext>
            </a:extLst>
          </p:cNvPr>
          <p:cNvCxnSpPr>
            <a:stCxn id="35" idx="3"/>
          </p:cNvCxnSpPr>
          <p:nvPr/>
        </p:nvCxnSpPr>
        <p:spPr>
          <a:xfrm>
            <a:off x="9319383" y="571006"/>
            <a:ext cx="408817" cy="32037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C1085ACE-D6CD-4094-88EB-42D88A98ACF8}"/>
              </a:ext>
            </a:extLst>
          </p:cNvPr>
          <p:cNvCxnSpPr>
            <a:cxnSpLocks/>
          </p:cNvCxnSpPr>
          <p:nvPr/>
        </p:nvCxnSpPr>
        <p:spPr>
          <a:xfrm flipV="1">
            <a:off x="3687021" y="3641157"/>
            <a:ext cx="0" cy="26717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DA117931-EBE0-47C5-A6B0-C5D18BBFA1DC}"/>
              </a:ext>
            </a:extLst>
          </p:cNvPr>
          <p:cNvCxnSpPr>
            <a:stCxn id="213" idx="1"/>
            <a:endCxn id="86" idx="4"/>
          </p:cNvCxnSpPr>
          <p:nvPr/>
        </p:nvCxnSpPr>
        <p:spPr>
          <a:xfrm rot="10800000">
            <a:off x="2358261" y="3161519"/>
            <a:ext cx="716133" cy="203200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10D57548-5337-4324-9A0B-1A7F01AB9B66}"/>
              </a:ext>
            </a:extLst>
          </p:cNvPr>
          <p:cNvCxnSpPr>
            <a:cxnSpLocks/>
          </p:cNvCxnSpPr>
          <p:nvPr/>
        </p:nvCxnSpPr>
        <p:spPr>
          <a:xfrm>
            <a:off x="2614031" y="3848959"/>
            <a:ext cx="5721148" cy="393486"/>
          </a:xfrm>
          <a:prstGeom prst="bentConnector3">
            <a:avLst>
              <a:gd name="adj1" fmla="val 5022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: Elbow 245">
            <a:extLst>
              <a:ext uri="{FF2B5EF4-FFF2-40B4-BE49-F238E27FC236}">
                <a16:creationId xmlns:a16="http://schemas.microsoft.com/office/drawing/2014/main" id="{8E7FAA1E-60A5-47BB-AC3A-ED38A1E7F148}"/>
              </a:ext>
            </a:extLst>
          </p:cNvPr>
          <p:cNvCxnSpPr/>
          <p:nvPr/>
        </p:nvCxnSpPr>
        <p:spPr>
          <a:xfrm rot="16200000" flipV="1">
            <a:off x="2236625" y="3471553"/>
            <a:ext cx="419959" cy="33485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056FEB1F-4A81-469C-AE2F-B82BE41BABC6}"/>
              </a:ext>
            </a:extLst>
          </p:cNvPr>
          <p:cNvSpPr txBox="1"/>
          <p:nvPr/>
        </p:nvSpPr>
        <p:spPr>
          <a:xfrm>
            <a:off x="346778" y="1339036"/>
            <a:ext cx="5645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Admin</a:t>
            </a:r>
          </a:p>
        </p:txBody>
      </p:sp>
      <p:sp>
        <p:nvSpPr>
          <p:cNvPr id="250" name="Cylinder 249">
            <a:extLst>
              <a:ext uri="{FF2B5EF4-FFF2-40B4-BE49-F238E27FC236}">
                <a16:creationId xmlns:a16="http://schemas.microsoft.com/office/drawing/2014/main" id="{BA848F14-5C4A-4465-AD79-D33D9D15E4CB}"/>
              </a:ext>
            </a:extLst>
          </p:cNvPr>
          <p:cNvSpPr/>
          <p:nvPr/>
        </p:nvSpPr>
        <p:spPr>
          <a:xfrm>
            <a:off x="1443860" y="5401924"/>
            <a:ext cx="914400" cy="696036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History</a:t>
            </a:r>
          </a:p>
        </p:txBody>
      </p:sp>
      <p:pic>
        <p:nvPicPr>
          <p:cNvPr id="252" name="Graphic 251" descr="Devil face with no fill">
            <a:extLst>
              <a:ext uri="{FF2B5EF4-FFF2-40B4-BE49-F238E27FC236}">
                <a16:creationId xmlns:a16="http://schemas.microsoft.com/office/drawing/2014/main" id="{E23F0962-50F6-4575-881A-9622B696C07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98322" y="5395853"/>
            <a:ext cx="682512" cy="682512"/>
          </a:xfrm>
          <a:prstGeom prst="rect">
            <a:avLst/>
          </a:prstGeom>
        </p:spPr>
      </p:pic>
      <p:grpSp>
        <p:nvGrpSpPr>
          <p:cNvPr id="257" name="Group 256">
            <a:extLst>
              <a:ext uri="{FF2B5EF4-FFF2-40B4-BE49-F238E27FC236}">
                <a16:creationId xmlns:a16="http://schemas.microsoft.com/office/drawing/2014/main" id="{174899C6-037A-42C6-A955-E81EA6AA013F}"/>
              </a:ext>
            </a:extLst>
          </p:cNvPr>
          <p:cNvGrpSpPr/>
          <p:nvPr/>
        </p:nvGrpSpPr>
        <p:grpSpPr>
          <a:xfrm>
            <a:off x="2440954" y="5687308"/>
            <a:ext cx="471529" cy="62634"/>
            <a:chOff x="3899592" y="5547475"/>
            <a:chExt cx="471529" cy="62634"/>
          </a:xfrm>
        </p:grpSpPr>
        <p:cxnSp>
          <p:nvCxnSpPr>
            <p:cNvPr id="254" name="Straight Arrow Connector 253">
              <a:extLst>
                <a:ext uri="{FF2B5EF4-FFF2-40B4-BE49-F238E27FC236}">
                  <a16:creationId xmlns:a16="http://schemas.microsoft.com/office/drawing/2014/main" id="{F7E21440-F74F-4D88-BD2A-D601C95347E4}"/>
                </a:ext>
              </a:extLst>
            </p:cNvPr>
            <p:cNvCxnSpPr/>
            <p:nvPr/>
          </p:nvCxnSpPr>
          <p:spPr>
            <a:xfrm>
              <a:off x="3975102" y="5547475"/>
              <a:ext cx="3960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424EB534-6370-4A87-9BAE-7E90F1BDA0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99592" y="5610109"/>
              <a:ext cx="3588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8" name="TextBox 257">
            <a:extLst>
              <a:ext uri="{FF2B5EF4-FFF2-40B4-BE49-F238E27FC236}">
                <a16:creationId xmlns:a16="http://schemas.microsoft.com/office/drawing/2014/main" id="{E13B3FA7-F732-44E4-833D-0EE0367B9D14}"/>
              </a:ext>
            </a:extLst>
          </p:cNvPr>
          <p:cNvSpPr txBox="1"/>
          <p:nvPr/>
        </p:nvSpPr>
        <p:spPr>
          <a:xfrm>
            <a:off x="1364777" y="6120738"/>
            <a:ext cx="75632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An event listener monitors for specific events and executes a response—such as storing data—whenever that event is triggered by an action.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pic>
        <p:nvPicPr>
          <p:cNvPr id="259" name="Graphic 258" descr="Devil face with no fill">
            <a:extLst>
              <a:ext uri="{FF2B5EF4-FFF2-40B4-BE49-F238E27FC236}">
                <a16:creationId xmlns:a16="http://schemas.microsoft.com/office/drawing/2014/main" id="{6D28F8E5-6C7F-4BC8-8150-19E486EAAB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22373" y="5395162"/>
            <a:ext cx="288121" cy="288121"/>
          </a:xfrm>
          <a:prstGeom prst="rect">
            <a:avLst/>
          </a:prstGeom>
        </p:spPr>
      </p:pic>
      <p:pic>
        <p:nvPicPr>
          <p:cNvPr id="260" name="Graphic 259" descr="Devil face with no fill">
            <a:extLst>
              <a:ext uri="{FF2B5EF4-FFF2-40B4-BE49-F238E27FC236}">
                <a16:creationId xmlns:a16="http://schemas.microsoft.com/office/drawing/2014/main" id="{F2455ACB-1DC0-4F6C-965A-AE43DFD2EEE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804956" y="374749"/>
            <a:ext cx="288121" cy="288121"/>
          </a:xfrm>
          <a:prstGeom prst="rect">
            <a:avLst/>
          </a:prstGeom>
        </p:spPr>
      </p:pic>
      <p:pic>
        <p:nvPicPr>
          <p:cNvPr id="261" name="Graphic 260" descr="Devil face with no fill">
            <a:extLst>
              <a:ext uri="{FF2B5EF4-FFF2-40B4-BE49-F238E27FC236}">
                <a16:creationId xmlns:a16="http://schemas.microsoft.com/office/drawing/2014/main" id="{7E3DB4CA-91E2-4A85-96A1-B90E7D330C2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819899" y="794391"/>
            <a:ext cx="288121" cy="288121"/>
          </a:xfrm>
          <a:prstGeom prst="rect">
            <a:avLst/>
          </a:prstGeom>
        </p:spPr>
      </p:pic>
      <p:pic>
        <p:nvPicPr>
          <p:cNvPr id="262" name="Graphic 261" descr="Devil face with no fill">
            <a:extLst>
              <a:ext uri="{FF2B5EF4-FFF2-40B4-BE49-F238E27FC236}">
                <a16:creationId xmlns:a16="http://schemas.microsoft.com/office/drawing/2014/main" id="{CA9072D2-4C3A-4E97-91AC-FB826C5906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832522" y="1182604"/>
            <a:ext cx="288121" cy="28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722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0296640-57A8-4E4D-8CA7-C94107A49CC9}"/>
              </a:ext>
            </a:extLst>
          </p:cNvPr>
          <p:cNvSpPr/>
          <p:nvPr/>
        </p:nvSpPr>
        <p:spPr>
          <a:xfrm>
            <a:off x="6421271" y="347453"/>
            <a:ext cx="2970997" cy="8154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4C715C53-FF65-4868-8459-4EC216A3F34C}"/>
              </a:ext>
            </a:extLst>
          </p:cNvPr>
          <p:cNvSpPr/>
          <p:nvPr/>
        </p:nvSpPr>
        <p:spPr>
          <a:xfrm>
            <a:off x="4934241" y="338259"/>
            <a:ext cx="1071202" cy="11646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C492EFC-6D53-44DA-9BB2-E6492B3C12C3}"/>
              </a:ext>
            </a:extLst>
          </p:cNvPr>
          <p:cNvSpPr/>
          <p:nvPr/>
        </p:nvSpPr>
        <p:spPr>
          <a:xfrm>
            <a:off x="8227917" y="3774742"/>
            <a:ext cx="3865160" cy="20811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A3E7DDD5-EC12-49FF-8C9B-030CB74C1D8A}"/>
              </a:ext>
            </a:extLst>
          </p:cNvPr>
          <p:cNvSpPr/>
          <p:nvPr/>
        </p:nvSpPr>
        <p:spPr>
          <a:xfrm>
            <a:off x="9916344" y="325146"/>
            <a:ext cx="1857229" cy="121155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51721" y="150559"/>
            <a:ext cx="5313953" cy="25264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1400" b="1" dirty="0">
                <a:solidFill>
                  <a:srgbClr val="C0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High Level Overview (Updated: 15/02/2026) – Proposed v1</a:t>
            </a:r>
            <a:br>
              <a:rPr lang="en-US" sz="1400" b="1" dirty="0">
                <a:solidFill>
                  <a:srgbClr val="00B05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</a:br>
            <a:endParaRPr lang="en-US" sz="1400" b="1" dirty="0">
              <a:solidFill>
                <a:srgbClr val="00B050"/>
              </a:solidFill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B71339BF-84EB-4FAA-9F2C-67677E754C47}"/>
              </a:ext>
            </a:extLst>
          </p:cNvPr>
          <p:cNvSpPr/>
          <p:nvPr/>
        </p:nvSpPr>
        <p:spPr>
          <a:xfrm>
            <a:off x="2619686" y="747622"/>
            <a:ext cx="423080" cy="423080"/>
          </a:xfrm>
          <a:prstGeom prst="smileyFac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F672EB78-A3B3-40C3-BD87-518C75E823A1}"/>
              </a:ext>
            </a:extLst>
          </p:cNvPr>
          <p:cNvSpPr/>
          <p:nvPr/>
        </p:nvSpPr>
        <p:spPr>
          <a:xfrm>
            <a:off x="3501091" y="734395"/>
            <a:ext cx="914400" cy="423080"/>
          </a:xfrm>
          <a:prstGeom prst="flowChartPredefined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Login (/login)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C130BC-5B3A-4294-B8A5-2263105CF140}"/>
              </a:ext>
            </a:extLst>
          </p:cNvPr>
          <p:cNvCxnSpPr/>
          <p:nvPr/>
        </p:nvCxnSpPr>
        <p:spPr>
          <a:xfrm>
            <a:off x="3105815" y="932197"/>
            <a:ext cx="3548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AA83C1-BA4A-4F04-A1C9-4383BFB99029}"/>
              </a:ext>
            </a:extLst>
          </p:cNvPr>
          <p:cNvCxnSpPr/>
          <p:nvPr/>
        </p:nvCxnSpPr>
        <p:spPr>
          <a:xfrm>
            <a:off x="4419417" y="920882"/>
            <a:ext cx="4640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0B70951-EB1D-4855-A514-BB8ED1C2B162}"/>
              </a:ext>
            </a:extLst>
          </p:cNvPr>
          <p:cNvSpPr/>
          <p:nvPr/>
        </p:nvSpPr>
        <p:spPr>
          <a:xfrm>
            <a:off x="5017405" y="407871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Home </a:t>
            </a:r>
            <a:r>
              <a:rPr lang="en-US" sz="8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(/) 308</a:t>
            </a:r>
            <a:endParaRPr lang="en-US" sz="1000" dirty="0">
              <a:solidFill>
                <a:srgbClr val="FF0000"/>
              </a:solidFill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D26E7933-718C-4C2B-A9A7-81ADEDE8CF4C}"/>
              </a:ext>
            </a:extLst>
          </p:cNvPr>
          <p:cNvSpPr/>
          <p:nvPr/>
        </p:nvSpPr>
        <p:spPr>
          <a:xfrm>
            <a:off x="358365" y="5404703"/>
            <a:ext cx="914400" cy="696036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feedback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16D01C-3EB6-44E5-AFED-33BFE2804968}"/>
              </a:ext>
            </a:extLst>
          </p:cNvPr>
          <p:cNvSpPr/>
          <p:nvPr/>
        </p:nvSpPr>
        <p:spPr>
          <a:xfrm>
            <a:off x="5016135" y="762662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Hostel </a:t>
            </a:r>
            <a:r>
              <a:rPr lang="en-US" sz="8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</a:t>
            </a:r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A3B91D-CC08-49BF-ABA0-CEB4DE932643}"/>
              </a:ext>
            </a:extLst>
          </p:cNvPr>
          <p:cNvSpPr/>
          <p:nvPr/>
        </p:nvSpPr>
        <p:spPr>
          <a:xfrm>
            <a:off x="5010441" y="1117453"/>
            <a:ext cx="914400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Report </a:t>
            </a:r>
            <a:r>
              <a:rPr lang="en-US" sz="800" dirty="0">
                <a:latin typeface="Inter 18pt" panose="02000503000000020004" pitchFamily="2" charset="0"/>
                <a:ea typeface="Inter 18pt" panose="02000503000000020004" pitchFamily="2" charset="0"/>
              </a:rPr>
              <a:t>(/admin/report)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6689D72-92E4-453C-8D40-A0056FB4C088}"/>
              </a:ext>
            </a:extLst>
          </p:cNvPr>
          <p:cNvSpPr/>
          <p:nvPr/>
        </p:nvSpPr>
        <p:spPr>
          <a:xfrm>
            <a:off x="6503160" y="403108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Check-in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(/admin/hostel/check-in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23CFAA-01CB-4178-91A6-68CB3890EDE0}"/>
              </a:ext>
            </a:extLst>
          </p:cNvPr>
          <p:cNvSpPr/>
          <p:nvPr/>
        </p:nvSpPr>
        <p:spPr>
          <a:xfrm>
            <a:off x="7944610" y="411544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Checkout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(/admin/hostel/checkout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BD70B4-AB21-4771-A435-41ABE5BF4D1A}"/>
              </a:ext>
            </a:extLst>
          </p:cNvPr>
          <p:cNvSpPr/>
          <p:nvPr/>
        </p:nvSpPr>
        <p:spPr>
          <a:xfrm>
            <a:off x="6716692" y="6100739"/>
            <a:ext cx="578697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SMS</a:t>
            </a:r>
          </a:p>
        </p:txBody>
      </p: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F8621F85-8E2E-440F-A109-CFC1D9F524F6}"/>
              </a:ext>
            </a:extLst>
          </p:cNvPr>
          <p:cNvGrpSpPr/>
          <p:nvPr/>
        </p:nvGrpSpPr>
        <p:grpSpPr>
          <a:xfrm>
            <a:off x="7581239" y="1827603"/>
            <a:ext cx="1788944" cy="1209137"/>
            <a:chOff x="7581239" y="1002103"/>
            <a:chExt cx="1788944" cy="1209137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B294C26F-1989-438C-848C-C3E5A2679AFC}"/>
                </a:ext>
              </a:extLst>
            </p:cNvPr>
            <p:cNvSpPr/>
            <p:nvPr/>
          </p:nvSpPr>
          <p:spPr>
            <a:xfrm>
              <a:off x="7581239" y="1002103"/>
              <a:ext cx="1788944" cy="1209137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264840F8-1014-4A74-8397-AFE08A28D649}"/>
                </a:ext>
              </a:extLst>
            </p:cNvPr>
            <p:cNvSpPr/>
            <p:nvPr/>
          </p:nvSpPr>
          <p:spPr>
            <a:xfrm>
              <a:off x="7657441" y="1072997"/>
              <a:ext cx="1630170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Guest Feedback Report 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/admin/report/generate</a:t>
              </a:r>
              <a:r>
                <a:rPr lang="en-US" sz="900" dirty="0">
                  <a:latin typeface="Inter 18pt" panose="02000503000000020004" pitchFamily="2" charset="0"/>
                  <a:ea typeface="Inter 18pt" panose="02000503000000020004" pitchFamily="2" charset="0"/>
                </a:rPr>
                <a:t>)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C78C27C-8504-455A-974D-67B2162F1DB9}"/>
                </a:ext>
              </a:extLst>
            </p:cNvPr>
            <p:cNvSpPr/>
            <p:nvPr/>
          </p:nvSpPr>
          <p:spPr>
            <a:xfrm>
              <a:off x="7657440" y="1444761"/>
              <a:ext cx="1630171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Occupancies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(GET /admin/report/{query}{msg}</a:t>
              </a:r>
              <a:r>
                <a:rPr lang="en-US" sz="900" dirty="0">
                  <a:latin typeface="Inter 18pt" panose="02000503000000020004" pitchFamily="2" charset="0"/>
                  <a:ea typeface="Inter 18pt" panose="02000503000000020004" pitchFamily="2" charset="0"/>
                </a:rPr>
                <a:t>)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A5B93571-2D42-4E2E-A3B7-A34E0154DF70}"/>
                </a:ext>
              </a:extLst>
            </p:cNvPr>
            <p:cNvSpPr/>
            <p:nvPr/>
          </p:nvSpPr>
          <p:spPr>
            <a:xfrm>
              <a:off x="7657439" y="1816525"/>
              <a:ext cx="1630171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Vacancies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(GET /admin/report/{query}{msg}</a:t>
              </a:r>
              <a:r>
                <a:rPr lang="en-US" sz="900" dirty="0">
                  <a:latin typeface="Inter 18pt" panose="02000503000000020004" pitchFamily="2" charset="0"/>
                  <a:ea typeface="Inter 18pt" panose="02000503000000020004" pitchFamily="2" charset="0"/>
                </a:rPr>
                <a:t>)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</p:grp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5458EF7E-4337-4FD5-B4CF-AF525A7A8744}"/>
              </a:ext>
            </a:extLst>
          </p:cNvPr>
          <p:cNvCxnSpPr>
            <a:stCxn id="19" idx="3"/>
            <a:endCxn id="59" idx="1"/>
          </p:cNvCxnSpPr>
          <p:nvPr/>
        </p:nvCxnSpPr>
        <p:spPr>
          <a:xfrm>
            <a:off x="5924841" y="1276915"/>
            <a:ext cx="1732600" cy="7810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B649ECFE-9819-461A-95BD-3847DE31ECA7}"/>
              </a:ext>
            </a:extLst>
          </p:cNvPr>
          <p:cNvCxnSpPr>
            <a:cxnSpLocks/>
            <a:stCxn id="19" idx="3"/>
            <a:endCxn id="60" idx="1"/>
          </p:cNvCxnSpPr>
          <p:nvPr/>
        </p:nvCxnSpPr>
        <p:spPr>
          <a:xfrm>
            <a:off x="5924841" y="1276915"/>
            <a:ext cx="1732599" cy="11528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Cylinder 85">
            <a:extLst>
              <a:ext uri="{FF2B5EF4-FFF2-40B4-BE49-F238E27FC236}">
                <a16:creationId xmlns:a16="http://schemas.microsoft.com/office/drawing/2014/main" id="{02C244C3-C8A9-43C3-9F62-616669CFA14B}"/>
              </a:ext>
            </a:extLst>
          </p:cNvPr>
          <p:cNvSpPr/>
          <p:nvPr/>
        </p:nvSpPr>
        <p:spPr>
          <a:xfrm>
            <a:off x="252316" y="2692278"/>
            <a:ext cx="914400" cy="814362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Users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CB96192-EB7C-40D9-9667-0CAD83A84AD4}"/>
              </a:ext>
            </a:extLst>
          </p:cNvPr>
          <p:cNvSpPr/>
          <p:nvPr/>
        </p:nvSpPr>
        <p:spPr>
          <a:xfrm>
            <a:off x="9992544" y="764566"/>
            <a:ext cx="1714377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Update </a:t>
            </a:r>
          </a:p>
          <a:p>
            <a:pPr algn="ctr"/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(POST /admin/check-in/{id}/refresh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pic>
        <p:nvPicPr>
          <p:cNvPr id="108" name="Graphic 107" descr="Lock">
            <a:extLst>
              <a:ext uri="{FF2B5EF4-FFF2-40B4-BE49-F238E27FC236}">
                <a16:creationId xmlns:a16="http://schemas.microsoft.com/office/drawing/2014/main" id="{21AE184C-35E1-4750-A828-249E3E949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83795" y="798752"/>
            <a:ext cx="152400" cy="152400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C00FF75-46A2-449C-9AC9-49F270E479F7}"/>
              </a:ext>
            </a:extLst>
          </p:cNvPr>
          <p:cNvGrpSpPr/>
          <p:nvPr/>
        </p:nvGrpSpPr>
        <p:grpSpPr>
          <a:xfrm>
            <a:off x="9992545" y="1167203"/>
            <a:ext cx="1714376" cy="318924"/>
            <a:chOff x="9319383" y="4532012"/>
            <a:chExt cx="1714376" cy="318924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0A21E7F8-F52A-4C78-B079-8BE4AFE40705}"/>
                </a:ext>
              </a:extLst>
            </p:cNvPr>
            <p:cNvSpPr/>
            <p:nvPr/>
          </p:nvSpPr>
          <p:spPr>
            <a:xfrm>
              <a:off x="9319383" y="4532012"/>
              <a:ext cx="1714376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Delete 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/admin/check-in/{id}/minus</a:t>
              </a:r>
              <a:r>
                <a:rPr lang="en-US" sz="900" dirty="0">
                  <a:latin typeface="Inter 18pt" panose="02000503000000020004" pitchFamily="2" charset="0"/>
                  <a:ea typeface="Inter 18pt" panose="02000503000000020004" pitchFamily="2" charset="0"/>
                </a:rPr>
                <a:t>)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pic>
          <p:nvPicPr>
            <p:cNvPr id="109" name="Graphic 108" descr="Lock">
              <a:extLst>
                <a:ext uri="{FF2B5EF4-FFF2-40B4-BE49-F238E27FC236}">
                  <a16:creationId xmlns:a16="http://schemas.microsoft.com/office/drawing/2014/main" id="{15162385-F98D-4470-A21C-F5827F3AA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37421" y="4539074"/>
              <a:ext cx="152400" cy="152400"/>
            </a:xfrm>
            <a:prstGeom prst="rect">
              <a:avLst/>
            </a:prstGeom>
          </p:spPr>
        </p:pic>
        <p:pic>
          <p:nvPicPr>
            <p:cNvPr id="111" name="Graphic 110" descr="Key">
              <a:extLst>
                <a:ext uri="{FF2B5EF4-FFF2-40B4-BE49-F238E27FC236}">
                  <a16:creationId xmlns:a16="http://schemas.microsoft.com/office/drawing/2014/main" id="{DC03482A-4BAA-49CF-8D10-C8ADF69A8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650731" y="4542884"/>
              <a:ext cx="181516" cy="181516"/>
            </a:xfrm>
            <a:prstGeom prst="rect">
              <a:avLst/>
            </a:prstGeom>
          </p:spPr>
        </p:pic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DE38839-26B5-4501-86F7-48A87346CBAF}"/>
              </a:ext>
            </a:extLst>
          </p:cNvPr>
          <p:cNvGrpSpPr/>
          <p:nvPr/>
        </p:nvGrpSpPr>
        <p:grpSpPr>
          <a:xfrm>
            <a:off x="9992545" y="375946"/>
            <a:ext cx="1714376" cy="318924"/>
            <a:chOff x="9319383" y="3740755"/>
            <a:chExt cx="1714376" cy="318924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8237E889-DCFF-4C2A-8E89-F7D7BAC9586B}"/>
                </a:ext>
              </a:extLst>
            </p:cNvPr>
            <p:cNvSpPr/>
            <p:nvPr/>
          </p:nvSpPr>
          <p:spPr>
            <a:xfrm>
              <a:off x="9319383" y="3740755"/>
              <a:ext cx="1714376" cy="3189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Create</a:t>
              </a:r>
            </a:p>
            <a:p>
              <a:pPr algn="ctr"/>
              <a:r>
                <a:rPr lang="en-US" sz="7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/admin/check-in/plus</a:t>
              </a:r>
              <a:endParaRPr lang="en-US" sz="1000" dirty="0">
                <a:latin typeface="Inter 18pt" panose="02000503000000020004" pitchFamily="2" charset="0"/>
                <a:ea typeface="Inter 18pt" panose="02000503000000020004" pitchFamily="2" charset="0"/>
              </a:endParaRPr>
            </a:p>
          </p:txBody>
        </p:sp>
        <p:pic>
          <p:nvPicPr>
            <p:cNvPr id="114" name="Graphic 113" descr="Key">
              <a:extLst>
                <a:ext uri="{FF2B5EF4-FFF2-40B4-BE49-F238E27FC236}">
                  <a16:creationId xmlns:a16="http://schemas.microsoft.com/office/drawing/2014/main" id="{D55D9960-D172-4BE3-94D1-BBF3BCFF2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85446" y="3753549"/>
              <a:ext cx="181516" cy="181516"/>
            </a:xfrm>
            <a:prstGeom prst="rect">
              <a:avLst/>
            </a:prstGeom>
          </p:spPr>
        </p:pic>
      </p:grpSp>
      <p:sp>
        <p:nvSpPr>
          <p:cNvPr id="132" name="Diamond 131">
            <a:extLst>
              <a:ext uri="{FF2B5EF4-FFF2-40B4-BE49-F238E27FC236}">
                <a16:creationId xmlns:a16="http://schemas.microsoft.com/office/drawing/2014/main" id="{E373C9BB-68A5-4523-9D8F-F37D34C24326}"/>
              </a:ext>
            </a:extLst>
          </p:cNvPr>
          <p:cNvSpPr/>
          <p:nvPr/>
        </p:nvSpPr>
        <p:spPr>
          <a:xfrm>
            <a:off x="4683678" y="2754338"/>
            <a:ext cx="914400" cy="9144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pic>
        <p:nvPicPr>
          <p:cNvPr id="134" name="Graphic 133" descr="Skull">
            <a:extLst>
              <a:ext uri="{FF2B5EF4-FFF2-40B4-BE49-F238E27FC236}">
                <a16:creationId xmlns:a16="http://schemas.microsoft.com/office/drawing/2014/main" id="{0E4A109D-41EC-43BC-8012-5C9787371D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9641" y="3009119"/>
            <a:ext cx="355600" cy="355600"/>
          </a:xfrm>
          <a:prstGeom prst="rect">
            <a:avLst/>
          </a:prstGeom>
        </p:spPr>
      </p:pic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DA462DD5-5D3C-4608-BE23-AD3EF2499166}"/>
              </a:ext>
            </a:extLst>
          </p:cNvPr>
          <p:cNvCxnSpPr/>
          <p:nvPr/>
        </p:nvCxnSpPr>
        <p:spPr>
          <a:xfrm flipV="1">
            <a:off x="7150100" y="138816"/>
            <a:ext cx="0" cy="262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6BB50AF-2466-4E93-9298-35DECA62B3D2}"/>
              </a:ext>
            </a:extLst>
          </p:cNvPr>
          <p:cNvCxnSpPr>
            <a:endCxn id="147" idx="0"/>
          </p:cNvCxnSpPr>
          <p:nvPr/>
        </p:nvCxnSpPr>
        <p:spPr>
          <a:xfrm>
            <a:off x="7150100" y="138816"/>
            <a:ext cx="3694859" cy="1863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E252A5CE-9416-400B-A4E9-400D439F0FE9}"/>
              </a:ext>
            </a:extLst>
          </p:cNvPr>
          <p:cNvCxnSpPr>
            <a:cxnSpLocks/>
            <a:stCxn id="106" idx="2"/>
            <a:endCxn id="132" idx="3"/>
          </p:cNvCxnSpPr>
          <p:nvPr/>
        </p:nvCxnSpPr>
        <p:spPr>
          <a:xfrm rot="5400000">
            <a:off x="7361201" y="-276995"/>
            <a:ext cx="1725411" cy="5251655"/>
          </a:xfrm>
          <a:prstGeom prst="bentConnector2">
            <a:avLst/>
          </a:prstGeom>
          <a:ln>
            <a:solidFill>
              <a:srgbClr val="F61212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13B9618-B6C8-4171-A68E-7B3CF395416B}"/>
              </a:ext>
            </a:extLst>
          </p:cNvPr>
          <p:cNvSpPr/>
          <p:nvPr/>
        </p:nvSpPr>
        <p:spPr>
          <a:xfrm>
            <a:off x="5718410" y="2886008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Request Filters</a:t>
            </a:r>
          </a:p>
        </p:txBody>
      </p:sp>
      <p:sp>
        <p:nvSpPr>
          <p:cNvPr id="169" name="Cylinder 168">
            <a:extLst>
              <a:ext uri="{FF2B5EF4-FFF2-40B4-BE49-F238E27FC236}">
                <a16:creationId xmlns:a16="http://schemas.microsoft.com/office/drawing/2014/main" id="{C1226365-FED1-45DA-A25B-1AF4B54CAE51}"/>
              </a:ext>
            </a:extLst>
          </p:cNvPr>
          <p:cNvSpPr/>
          <p:nvPr/>
        </p:nvSpPr>
        <p:spPr>
          <a:xfrm>
            <a:off x="253999" y="3819560"/>
            <a:ext cx="914400" cy="814362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Checkout</a:t>
            </a: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5AAD2A1-BB69-479B-9ECE-F9EF8CB849D7}"/>
              </a:ext>
            </a:extLst>
          </p:cNvPr>
          <p:cNvGrpSpPr/>
          <p:nvPr/>
        </p:nvGrpSpPr>
        <p:grpSpPr>
          <a:xfrm>
            <a:off x="8327867" y="3876859"/>
            <a:ext cx="3445706" cy="1873084"/>
            <a:chOff x="8568494" y="3876859"/>
            <a:chExt cx="3445706" cy="1873084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F669DB-9DCF-46DE-B817-5AD2437205DD}"/>
                </a:ext>
              </a:extLst>
            </p:cNvPr>
            <p:cNvSpPr/>
            <p:nvPr/>
          </p:nvSpPr>
          <p:spPr>
            <a:xfrm>
              <a:off x="8568497" y="3876859"/>
              <a:ext cx="3445703" cy="60624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Verify Guest (With phone) 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Status != checked out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(GET /admin/hostel/checkout/{phone})</a:t>
              </a: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33BFEF60-5FF7-460D-B648-9308A45D84B6}"/>
                </a:ext>
              </a:extLst>
            </p:cNvPr>
            <p:cNvSpPr/>
            <p:nvPr/>
          </p:nvSpPr>
          <p:spPr>
            <a:xfrm>
              <a:off x="8568494" y="4563468"/>
              <a:ext cx="3445703" cy="5070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Calculate Stayed, Discount, VAT &amp; Tax, Total Bill  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5333A662-0E51-4864-966F-BF96B5613597}"/>
                </a:ext>
              </a:extLst>
            </p:cNvPr>
            <p:cNvSpPr/>
            <p:nvPr/>
          </p:nvSpPr>
          <p:spPr>
            <a:xfrm>
              <a:off x="8568495" y="5150919"/>
              <a:ext cx="3445703" cy="59902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Confirm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(POST /admin/hostel/checkout/{phone})</a:t>
              </a:r>
            </a:p>
            <a:p>
              <a:pPr algn="ctr"/>
              <a:r>
                <a:rPr lang="en-US" sz="1000" dirty="0">
                  <a:latin typeface="Inter 18pt" panose="02000503000000020004" pitchFamily="2" charset="0"/>
                  <a:ea typeface="Inter 18pt" panose="02000503000000020004" pitchFamily="2" charset="0"/>
                </a:rPr>
                <a:t> </a:t>
              </a:r>
            </a:p>
          </p:txBody>
        </p:sp>
      </p:grp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9236E1FC-6E6A-46A6-9013-21918B74EEDA}"/>
              </a:ext>
            </a:extLst>
          </p:cNvPr>
          <p:cNvCxnSpPr>
            <a:cxnSpLocks/>
            <a:stCxn id="132" idx="0"/>
          </p:cNvCxnSpPr>
          <p:nvPr/>
        </p:nvCxnSpPr>
        <p:spPr>
          <a:xfrm rot="16200000" flipH="1" flipV="1">
            <a:off x="3070339" y="850714"/>
            <a:ext cx="166915" cy="3974162"/>
          </a:xfrm>
          <a:prstGeom prst="bentConnector4">
            <a:avLst>
              <a:gd name="adj1" fmla="val -136956"/>
              <a:gd name="adj2" fmla="val 55752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 195">
            <a:extLst>
              <a:ext uri="{FF2B5EF4-FFF2-40B4-BE49-F238E27FC236}">
                <a16:creationId xmlns:a16="http://schemas.microsoft.com/office/drawing/2014/main" id="{80C9E733-A271-41CD-8066-C0C1707A4BB5}"/>
              </a:ext>
            </a:extLst>
          </p:cNvPr>
          <p:cNvSpPr/>
          <p:nvPr/>
        </p:nvSpPr>
        <p:spPr>
          <a:xfrm>
            <a:off x="2833466" y="3935005"/>
            <a:ext cx="2410647" cy="98515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000" b="1" dirty="0">
                <a:latin typeface="Inter 18pt" panose="02000503000000020004" pitchFamily="2" charset="0"/>
                <a:ea typeface="Inter 18pt" panose="02000503000000020004" pitchFamily="2" charset="0"/>
              </a:rPr>
              <a:t>Transection</a:t>
            </a:r>
          </a:p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Create Checkout(DBT: checkout)</a:t>
            </a:r>
          </a:p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Update Users status (DBT: checkout)</a:t>
            </a:r>
          </a:p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Store Feedback(DBT: feedback)</a:t>
            </a:r>
          </a:p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Update </a:t>
            </a:r>
            <a:r>
              <a:rPr lang="en-US" sz="1000" dirty="0" err="1">
                <a:latin typeface="Inter 18pt" panose="02000503000000020004" pitchFamily="2" charset="0"/>
                <a:ea typeface="Inter 18pt" panose="02000503000000020004" pitchFamily="2" charset="0"/>
              </a:rPr>
              <a:t>Sms</a:t>
            </a:r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 Status (DBT: feedback)</a:t>
            </a:r>
          </a:p>
          <a:p>
            <a:pPr algn="ctr"/>
            <a:r>
              <a:rPr lang="en-US" sz="1000" b="1" dirty="0">
                <a:solidFill>
                  <a:srgbClr val="C0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Roll back if fail</a:t>
            </a:r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BF22DAD2-9CEE-4A7D-8D64-D24D4729B20C}"/>
              </a:ext>
            </a:extLst>
          </p:cNvPr>
          <p:cNvCxnSpPr>
            <a:cxnSpLocks/>
            <a:stCxn id="196" idx="1"/>
            <a:endCxn id="169" idx="3"/>
          </p:cNvCxnSpPr>
          <p:nvPr/>
        </p:nvCxnSpPr>
        <p:spPr>
          <a:xfrm rot="10800000" flipV="1">
            <a:off x="711200" y="4427584"/>
            <a:ext cx="2122267" cy="206337"/>
          </a:xfrm>
          <a:prstGeom prst="bentConnector4">
            <a:avLst>
              <a:gd name="adj1" fmla="val 39228"/>
              <a:gd name="adj2" fmla="val 34951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2257CE29-C29B-418D-B4C0-81F9D69A5FDF}"/>
              </a:ext>
            </a:extLst>
          </p:cNvPr>
          <p:cNvCxnSpPr>
            <a:cxnSpLocks/>
            <a:stCxn id="132" idx="1"/>
            <a:endCxn id="196" idx="3"/>
          </p:cNvCxnSpPr>
          <p:nvPr/>
        </p:nvCxnSpPr>
        <p:spPr>
          <a:xfrm rot="10800000" flipH="1" flipV="1">
            <a:off x="4683677" y="3211537"/>
            <a:ext cx="560435" cy="1216047"/>
          </a:xfrm>
          <a:prstGeom prst="bentConnector5">
            <a:avLst>
              <a:gd name="adj1" fmla="val -40790"/>
              <a:gd name="adj2" fmla="val 44368"/>
              <a:gd name="adj3" fmla="val 140790"/>
            </a:avLst>
          </a:prstGeom>
          <a:ln>
            <a:solidFill>
              <a:srgbClr val="F6121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Rectangle 212">
            <a:extLst>
              <a:ext uri="{FF2B5EF4-FFF2-40B4-BE49-F238E27FC236}">
                <a16:creationId xmlns:a16="http://schemas.microsoft.com/office/drawing/2014/main" id="{04DA05B2-2E82-4FF6-883C-A5092D783884}"/>
              </a:ext>
            </a:extLst>
          </p:cNvPr>
          <p:cNvSpPr/>
          <p:nvPr/>
        </p:nvSpPr>
        <p:spPr>
          <a:xfrm>
            <a:off x="3074393" y="3101474"/>
            <a:ext cx="1225257" cy="526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latin typeface="Inter 18pt" panose="02000503000000020004" pitchFamily="2" charset="0"/>
                <a:ea typeface="Inter 18pt" panose="02000503000000020004" pitchFamily="2" charset="0"/>
              </a:rPr>
              <a:t>Update Status: </a:t>
            </a:r>
          </a:p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Checked out</a:t>
            </a:r>
          </a:p>
        </p:txBody>
      </p: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FFF3204A-1EFF-4279-8D80-BFD1B566B177}"/>
              </a:ext>
            </a:extLst>
          </p:cNvPr>
          <p:cNvCxnSpPr>
            <a:stCxn id="35" idx="3"/>
          </p:cNvCxnSpPr>
          <p:nvPr/>
        </p:nvCxnSpPr>
        <p:spPr>
          <a:xfrm>
            <a:off x="9319383" y="571006"/>
            <a:ext cx="408817" cy="32037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C1085ACE-D6CD-4094-88EB-42D88A98ACF8}"/>
              </a:ext>
            </a:extLst>
          </p:cNvPr>
          <p:cNvCxnSpPr>
            <a:cxnSpLocks/>
          </p:cNvCxnSpPr>
          <p:nvPr/>
        </p:nvCxnSpPr>
        <p:spPr>
          <a:xfrm flipV="1">
            <a:off x="3687021" y="3641157"/>
            <a:ext cx="0" cy="26717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DA117931-EBE0-47C5-A6B0-C5D18BBFA1DC}"/>
              </a:ext>
            </a:extLst>
          </p:cNvPr>
          <p:cNvCxnSpPr>
            <a:stCxn id="213" idx="1"/>
            <a:endCxn id="86" idx="4"/>
          </p:cNvCxnSpPr>
          <p:nvPr/>
        </p:nvCxnSpPr>
        <p:spPr>
          <a:xfrm rot="10800000">
            <a:off x="1166717" y="3099459"/>
            <a:ext cx="1907677" cy="265260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10D57548-5337-4324-9A0B-1A7F01AB9B66}"/>
              </a:ext>
            </a:extLst>
          </p:cNvPr>
          <p:cNvCxnSpPr>
            <a:cxnSpLocks/>
          </p:cNvCxnSpPr>
          <p:nvPr/>
        </p:nvCxnSpPr>
        <p:spPr>
          <a:xfrm>
            <a:off x="2614031" y="3848959"/>
            <a:ext cx="5721148" cy="393486"/>
          </a:xfrm>
          <a:prstGeom prst="bentConnector3">
            <a:avLst>
              <a:gd name="adj1" fmla="val 524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: Elbow 245">
            <a:extLst>
              <a:ext uri="{FF2B5EF4-FFF2-40B4-BE49-F238E27FC236}">
                <a16:creationId xmlns:a16="http://schemas.microsoft.com/office/drawing/2014/main" id="{8E7FAA1E-60A5-47BB-AC3A-ED38A1E7F148}"/>
              </a:ext>
            </a:extLst>
          </p:cNvPr>
          <p:cNvCxnSpPr>
            <a:cxnSpLocks/>
          </p:cNvCxnSpPr>
          <p:nvPr/>
        </p:nvCxnSpPr>
        <p:spPr>
          <a:xfrm rot="10800000">
            <a:off x="1148486" y="3293190"/>
            <a:ext cx="1465547" cy="55577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056FEB1F-4A81-469C-AE2F-B82BE41BABC6}"/>
              </a:ext>
            </a:extLst>
          </p:cNvPr>
          <p:cNvSpPr txBox="1"/>
          <p:nvPr/>
        </p:nvSpPr>
        <p:spPr>
          <a:xfrm>
            <a:off x="2581901" y="514100"/>
            <a:ext cx="5645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Admin</a:t>
            </a:r>
          </a:p>
        </p:txBody>
      </p:sp>
      <p:pic>
        <p:nvPicPr>
          <p:cNvPr id="259" name="Graphic 258" descr="Devil face with no fill">
            <a:extLst>
              <a:ext uri="{FF2B5EF4-FFF2-40B4-BE49-F238E27FC236}">
                <a16:creationId xmlns:a16="http://schemas.microsoft.com/office/drawing/2014/main" id="{6D28F8E5-6C7F-4BC8-8150-19E486EAAB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536673" y="5318962"/>
            <a:ext cx="288121" cy="288121"/>
          </a:xfrm>
          <a:prstGeom prst="rect">
            <a:avLst/>
          </a:prstGeom>
        </p:spPr>
      </p:pic>
      <p:pic>
        <p:nvPicPr>
          <p:cNvPr id="260" name="Graphic 259" descr="Devil face with no fill">
            <a:extLst>
              <a:ext uri="{FF2B5EF4-FFF2-40B4-BE49-F238E27FC236}">
                <a16:creationId xmlns:a16="http://schemas.microsoft.com/office/drawing/2014/main" id="{F2455ACB-1DC0-4F6C-965A-AE43DFD2EE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04956" y="374749"/>
            <a:ext cx="288121" cy="288121"/>
          </a:xfrm>
          <a:prstGeom prst="rect">
            <a:avLst/>
          </a:prstGeom>
        </p:spPr>
      </p:pic>
      <p:pic>
        <p:nvPicPr>
          <p:cNvPr id="261" name="Graphic 260" descr="Devil face with no fill">
            <a:extLst>
              <a:ext uri="{FF2B5EF4-FFF2-40B4-BE49-F238E27FC236}">
                <a16:creationId xmlns:a16="http://schemas.microsoft.com/office/drawing/2014/main" id="{7E3DB4CA-91E2-4A85-96A1-B90E7D330C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19899" y="794391"/>
            <a:ext cx="288121" cy="288121"/>
          </a:xfrm>
          <a:prstGeom prst="rect">
            <a:avLst/>
          </a:prstGeom>
        </p:spPr>
      </p:pic>
      <p:pic>
        <p:nvPicPr>
          <p:cNvPr id="262" name="Graphic 261" descr="Devil face with no fill">
            <a:extLst>
              <a:ext uri="{FF2B5EF4-FFF2-40B4-BE49-F238E27FC236}">
                <a16:creationId xmlns:a16="http://schemas.microsoft.com/office/drawing/2014/main" id="{CA9072D2-4C3A-4E97-91AC-FB826C5906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32522" y="1182604"/>
            <a:ext cx="288121" cy="288121"/>
          </a:xfrm>
          <a:prstGeom prst="rect">
            <a:avLst/>
          </a:prstGeom>
        </p:spPr>
      </p:pic>
      <p:sp>
        <p:nvSpPr>
          <p:cNvPr id="271" name="Rectangle 270">
            <a:extLst>
              <a:ext uri="{FF2B5EF4-FFF2-40B4-BE49-F238E27FC236}">
                <a16:creationId xmlns:a16="http://schemas.microsoft.com/office/drawing/2014/main" id="{A2DD468F-6241-4115-AA97-B128C0EFCBB0}"/>
              </a:ext>
            </a:extLst>
          </p:cNvPr>
          <p:cNvSpPr/>
          <p:nvPr/>
        </p:nvSpPr>
        <p:spPr>
          <a:xfrm>
            <a:off x="6385485" y="5269224"/>
            <a:ext cx="1241113" cy="6381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Lato" panose="020F0502020204030203" pitchFamily="34" charset="0"/>
              </a:rPr>
              <a:t>Show feedback form with filled data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6C2433EF-688C-4190-93DC-1771F6454BE6}"/>
              </a:ext>
            </a:extLst>
          </p:cNvPr>
          <p:cNvCxnSpPr/>
          <p:nvPr/>
        </p:nvCxnSpPr>
        <p:spPr>
          <a:xfrm flipH="1">
            <a:off x="7657439" y="5522221"/>
            <a:ext cx="6704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CF195A1F-8E22-4B40-8D71-499D317C1541}"/>
              </a:ext>
            </a:extLst>
          </p:cNvPr>
          <p:cNvCxnSpPr>
            <a:stCxn id="271" idx="2"/>
            <a:endCxn id="36" idx="0"/>
          </p:cNvCxnSpPr>
          <p:nvPr/>
        </p:nvCxnSpPr>
        <p:spPr>
          <a:xfrm flipH="1">
            <a:off x="7006041" y="5907398"/>
            <a:ext cx="1" cy="19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3" name="Connector: Elbow 292">
            <a:extLst>
              <a:ext uri="{FF2B5EF4-FFF2-40B4-BE49-F238E27FC236}">
                <a16:creationId xmlns:a16="http://schemas.microsoft.com/office/drawing/2014/main" id="{C2D3B3EF-4A8F-46F6-8FEB-3A82BA6082C0}"/>
              </a:ext>
            </a:extLst>
          </p:cNvPr>
          <p:cNvCxnSpPr>
            <a:cxnSpLocks/>
            <a:endCxn id="14" idx="4"/>
          </p:cNvCxnSpPr>
          <p:nvPr/>
        </p:nvCxnSpPr>
        <p:spPr>
          <a:xfrm rot="10800000" flipV="1">
            <a:off x="1272765" y="4946841"/>
            <a:ext cx="2445100" cy="805880"/>
          </a:xfrm>
          <a:prstGeom prst="bentConnector3">
            <a:avLst>
              <a:gd name="adj1" fmla="val 137"/>
            </a:avLst>
          </a:prstGeom>
          <a:ln>
            <a:solidFill>
              <a:srgbClr val="00B050"/>
            </a:solidFill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9" name="Connector: Elbow 298">
            <a:extLst>
              <a:ext uri="{FF2B5EF4-FFF2-40B4-BE49-F238E27FC236}">
                <a16:creationId xmlns:a16="http://schemas.microsoft.com/office/drawing/2014/main" id="{29013D9B-B5AC-4213-A4CD-36C7A8029465}"/>
              </a:ext>
            </a:extLst>
          </p:cNvPr>
          <p:cNvCxnSpPr>
            <a:cxnSpLocks/>
          </p:cNvCxnSpPr>
          <p:nvPr/>
        </p:nvCxnSpPr>
        <p:spPr>
          <a:xfrm rot="10800000">
            <a:off x="5264791" y="4879867"/>
            <a:ext cx="1434515" cy="140820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TextBox 303">
            <a:extLst>
              <a:ext uri="{FF2B5EF4-FFF2-40B4-BE49-F238E27FC236}">
                <a16:creationId xmlns:a16="http://schemas.microsoft.com/office/drawing/2014/main" id="{99F6A4DC-151C-4583-94E9-E3E608A49DCE}"/>
              </a:ext>
            </a:extLst>
          </p:cNvPr>
          <p:cNvSpPr txBox="1"/>
          <p:nvPr/>
        </p:nvSpPr>
        <p:spPr>
          <a:xfrm>
            <a:off x="6791140" y="6377465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Lato" panose="020F0502020204030203" pitchFamily="34" charset="0"/>
              </a:rPr>
              <a:t>sync</a:t>
            </a: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FF73216B-53ED-4D4F-B9C8-086E0FC91AF6}"/>
              </a:ext>
            </a:extLst>
          </p:cNvPr>
          <p:cNvSpPr/>
          <p:nvPr/>
        </p:nvSpPr>
        <p:spPr>
          <a:xfrm>
            <a:off x="6503160" y="785155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Seat Management</a:t>
            </a:r>
          </a:p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(/admin/hostel/seats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5432AAC-E283-4112-B439-5885E848CDC3}"/>
              </a:ext>
            </a:extLst>
          </p:cNvPr>
          <p:cNvSpPr/>
          <p:nvPr/>
        </p:nvSpPr>
        <p:spPr>
          <a:xfrm>
            <a:off x="7954133" y="782196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38A06E-073B-4BF9-9B3B-1EBF08FC81DB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5930535" y="755169"/>
            <a:ext cx="490736" cy="1669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59EA7C-9880-4628-9BE6-8922C180D561}"/>
              </a:ext>
            </a:extLst>
          </p:cNvPr>
          <p:cNvCxnSpPr/>
          <p:nvPr/>
        </p:nvCxnSpPr>
        <p:spPr>
          <a:xfrm>
            <a:off x="11938000" y="3876859"/>
            <a:ext cx="0" cy="1892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0317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702AC7-8EE0-454C-A42A-48BAD365C673}"/>
              </a:ext>
            </a:extLst>
          </p:cNvPr>
          <p:cNvSpPr txBox="1"/>
          <p:nvPr/>
        </p:nvSpPr>
        <p:spPr>
          <a:xfrm>
            <a:off x="5160487" y="266700"/>
            <a:ext cx="1282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nter 18pt" panose="02000503000000020004" pitchFamily="2" charset="0"/>
                <a:ea typeface="Inter 18pt" panose="02000503000000020004" pitchFamily="2" charset="0"/>
              </a:rPr>
              <a:t>Login (/login)</a:t>
            </a:r>
          </a:p>
        </p:txBody>
      </p:sp>
    </p:spTree>
    <p:extLst>
      <p:ext uri="{BB962C8B-B14F-4D97-AF65-F5344CB8AC3E}">
        <p14:creationId xmlns:p14="http://schemas.microsoft.com/office/powerpoint/2010/main" val="471023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702AC7-8EE0-454C-A42A-48BAD365C673}"/>
              </a:ext>
            </a:extLst>
          </p:cNvPr>
          <p:cNvSpPr txBox="1"/>
          <p:nvPr/>
        </p:nvSpPr>
        <p:spPr>
          <a:xfrm>
            <a:off x="5160487" y="266700"/>
            <a:ext cx="9172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Inter 18pt" panose="02000503000000020004" pitchFamily="2" charset="0"/>
                <a:ea typeface="Inter 18pt" panose="02000503000000020004" pitchFamily="2" charset="0"/>
              </a:rPr>
              <a:t>Home (/)</a:t>
            </a:r>
          </a:p>
        </p:txBody>
      </p:sp>
    </p:spTree>
    <p:extLst>
      <p:ext uri="{BB962C8B-B14F-4D97-AF65-F5344CB8AC3E}">
        <p14:creationId xmlns:p14="http://schemas.microsoft.com/office/powerpoint/2010/main" val="1584821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F39E8E3-D5C8-4FDA-9FE6-2CB72FC8E91A}"/>
              </a:ext>
            </a:extLst>
          </p:cNvPr>
          <p:cNvSpPr/>
          <p:nvPr/>
        </p:nvSpPr>
        <p:spPr>
          <a:xfrm>
            <a:off x="1349374" y="34769"/>
            <a:ext cx="1503361" cy="12320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702AC7-8EE0-454C-A42A-48BAD365C673}"/>
              </a:ext>
            </a:extLst>
          </p:cNvPr>
          <p:cNvSpPr txBox="1"/>
          <p:nvPr/>
        </p:nvSpPr>
        <p:spPr>
          <a:xfrm>
            <a:off x="0" y="6602667"/>
            <a:ext cx="27622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Hostel (/admin/hostel) – [Protected Routes]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37227-6ABB-4D10-B040-940029FB3E04}"/>
              </a:ext>
            </a:extLst>
          </p:cNvPr>
          <p:cNvSpPr/>
          <p:nvPr/>
        </p:nvSpPr>
        <p:spPr>
          <a:xfrm>
            <a:off x="116587" y="101444"/>
            <a:ext cx="978787" cy="4717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Hostel </a:t>
            </a:r>
            <a:r>
              <a:rPr lang="en-US" sz="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(/admin/hostel</a:t>
            </a:r>
            <a:r>
              <a:rPr lang="en-US" sz="1000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7E2D85-5548-4CE1-A276-B7B399AABE4E}"/>
              </a:ext>
            </a:extLst>
          </p:cNvPr>
          <p:cNvSpPr/>
          <p:nvPr/>
        </p:nvSpPr>
        <p:spPr>
          <a:xfrm>
            <a:off x="1420814" y="101444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Seat Management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(/admin/hostel/seats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07FA99-C6E8-4567-AE66-284E4F61A300}"/>
              </a:ext>
            </a:extLst>
          </p:cNvPr>
          <p:cNvSpPr/>
          <p:nvPr/>
        </p:nvSpPr>
        <p:spPr>
          <a:xfrm>
            <a:off x="1420814" y="477518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Check-in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(/admin/hostel/check-in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DB9E8-ADED-4B55-8770-1E803799C8D0}"/>
              </a:ext>
            </a:extLst>
          </p:cNvPr>
          <p:cNvSpPr/>
          <p:nvPr/>
        </p:nvSpPr>
        <p:spPr>
          <a:xfrm>
            <a:off x="1420814" y="853592"/>
            <a:ext cx="1374773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Checkout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(/admin/hostel/checkout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679896DB-DE21-46F2-99FC-2C97CF0C7B01}"/>
              </a:ext>
            </a:extLst>
          </p:cNvPr>
          <p:cNvCxnSpPr>
            <a:cxnSpLocks/>
          </p:cNvCxnSpPr>
          <p:nvPr/>
        </p:nvCxnSpPr>
        <p:spPr>
          <a:xfrm>
            <a:off x="1114424" y="337325"/>
            <a:ext cx="235881" cy="2358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8FD1876-08A1-4B13-A3CF-B6843A19F828}"/>
              </a:ext>
            </a:extLst>
          </p:cNvPr>
          <p:cNvSpPr/>
          <p:nvPr/>
        </p:nvSpPr>
        <p:spPr>
          <a:xfrm>
            <a:off x="3353434" y="34769"/>
            <a:ext cx="1628141" cy="12320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D729A6-92F1-4D76-907A-CF9B34097E08}"/>
              </a:ext>
            </a:extLst>
          </p:cNvPr>
          <p:cNvSpPr/>
          <p:nvPr/>
        </p:nvSpPr>
        <p:spPr>
          <a:xfrm>
            <a:off x="3424874" y="101444"/>
            <a:ext cx="1556701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Create Seat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(/admin/hostel/seats/create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A04D9D-B75F-4389-AE6A-59917E2CDDD9}"/>
              </a:ext>
            </a:extLst>
          </p:cNvPr>
          <p:cNvSpPr/>
          <p:nvPr/>
        </p:nvSpPr>
        <p:spPr>
          <a:xfrm>
            <a:off x="3424874" y="477518"/>
            <a:ext cx="1556701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View Seats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(/admin/hostel/seats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0FDE4F-EDB8-4FAD-A498-6739AA4AA605}"/>
              </a:ext>
            </a:extLst>
          </p:cNvPr>
          <p:cNvSpPr/>
          <p:nvPr/>
        </p:nvSpPr>
        <p:spPr>
          <a:xfrm>
            <a:off x="3424874" y="853592"/>
            <a:ext cx="1556701" cy="3189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Delete  </a:t>
            </a:r>
            <a:r>
              <a:rPr lang="en-US" sz="700" dirty="0">
                <a:latin typeface="Inter 18pt" panose="02000503000000020004" pitchFamily="2" charset="0"/>
                <a:ea typeface="Inter 18pt" panose="02000503000000020004" pitchFamily="2" charset="0"/>
              </a:rPr>
              <a:t>(/admin/hostel/seats/{id}/delete</a:t>
            </a:r>
            <a:r>
              <a:rPr lang="en-US" sz="900" dirty="0">
                <a:latin typeface="Inter 18pt" panose="02000503000000020004" pitchFamily="2" charset="0"/>
                <a:ea typeface="Inter 18pt" panose="02000503000000020004" pitchFamily="2" charset="0"/>
              </a:rPr>
              <a:t>)</a:t>
            </a:r>
            <a:endParaRPr lang="en-US" sz="10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B94656B-2CCB-421F-A04D-DFD7AC3666D6}"/>
              </a:ext>
            </a:extLst>
          </p:cNvPr>
          <p:cNvCxnSpPr>
            <a:stCxn id="10" idx="3"/>
          </p:cNvCxnSpPr>
          <p:nvPr/>
        </p:nvCxnSpPr>
        <p:spPr>
          <a:xfrm flipV="1">
            <a:off x="2795587" y="171450"/>
            <a:ext cx="557847" cy="894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7" name="Graphic 26" descr="Lock">
            <a:extLst>
              <a:ext uri="{FF2B5EF4-FFF2-40B4-BE49-F238E27FC236}">
                <a16:creationId xmlns:a16="http://schemas.microsoft.com/office/drawing/2014/main" id="{2E6C82F6-490B-40BA-9CB2-4FF40BE8B5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3558" y="887882"/>
            <a:ext cx="152400" cy="152400"/>
          </a:xfrm>
          <a:prstGeom prst="rect">
            <a:avLst/>
          </a:prstGeom>
        </p:spPr>
      </p:pic>
      <p:pic>
        <p:nvPicPr>
          <p:cNvPr id="28" name="Graphic 27" descr="Key">
            <a:extLst>
              <a:ext uri="{FF2B5EF4-FFF2-40B4-BE49-F238E27FC236}">
                <a16:creationId xmlns:a16="http://schemas.microsoft.com/office/drawing/2014/main" id="{699F0C0B-95B7-4551-B465-D172F7FC4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46868" y="891692"/>
            <a:ext cx="181516" cy="181516"/>
          </a:xfrm>
          <a:prstGeom prst="rect">
            <a:avLst/>
          </a:prstGeom>
        </p:spPr>
      </p:pic>
      <p:pic>
        <p:nvPicPr>
          <p:cNvPr id="29" name="Graphic 28" descr="Key">
            <a:extLst>
              <a:ext uri="{FF2B5EF4-FFF2-40B4-BE49-F238E27FC236}">
                <a16:creationId xmlns:a16="http://schemas.microsoft.com/office/drawing/2014/main" id="{91AC0354-7A3B-4793-B568-CDF9E680E5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46868" y="125420"/>
            <a:ext cx="181516" cy="181516"/>
          </a:xfrm>
          <a:prstGeom prst="rect">
            <a:avLst/>
          </a:prstGeom>
        </p:spPr>
      </p:pic>
      <p:pic>
        <p:nvPicPr>
          <p:cNvPr id="30" name="Graphic 29" descr="Key">
            <a:extLst>
              <a:ext uri="{FF2B5EF4-FFF2-40B4-BE49-F238E27FC236}">
                <a16:creationId xmlns:a16="http://schemas.microsoft.com/office/drawing/2014/main" id="{F1C9B397-A2DE-44B0-8203-2B5F3B41A0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75443" y="491918"/>
            <a:ext cx="181516" cy="18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88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ADD2D-BA42-4665-B7F3-A0BF0148E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51"/>
            <a:ext cx="10515600" cy="315912"/>
          </a:xfrm>
        </p:spPr>
        <p:txBody>
          <a:bodyPr>
            <a:normAutofit/>
          </a:bodyPr>
          <a:lstStyle/>
          <a:p>
            <a:pPr algn="ctr"/>
            <a:r>
              <a:rPr lang="en-US" sz="1400" dirty="0">
                <a:latin typeface="Inter 18pt" panose="02000503000000020004" pitchFamily="2" charset="0"/>
                <a:ea typeface="Inter 18pt" panose="02000503000000020004" pitchFamily="2" charset="0"/>
              </a:rPr>
              <a:t>Models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BB0E81-FC3B-40C1-8513-B1E3E3D5AF93}"/>
              </a:ext>
            </a:extLst>
          </p:cNvPr>
          <p:cNvSpPr/>
          <p:nvPr/>
        </p:nvSpPr>
        <p:spPr>
          <a:xfrm>
            <a:off x="571500" y="635000"/>
            <a:ext cx="1663700" cy="2159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Feedback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279293-6D82-4853-AA02-3738A36CE577}"/>
              </a:ext>
            </a:extLst>
          </p:cNvPr>
          <p:cNvSpPr/>
          <p:nvPr/>
        </p:nvSpPr>
        <p:spPr>
          <a:xfrm>
            <a:off x="2324100" y="635000"/>
            <a:ext cx="9410700" cy="2159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Int id, string phone, string roll, datetime roll</a:t>
            </a:r>
          </a:p>
        </p:txBody>
      </p:sp>
    </p:spTree>
    <p:extLst>
      <p:ext uri="{BB962C8B-B14F-4D97-AF65-F5344CB8AC3E}">
        <p14:creationId xmlns:p14="http://schemas.microsoft.com/office/powerpoint/2010/main" val="924529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ADD2D-BA42-4665-B7F3-A0BF0148E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51"/>
            <a:ext cx="10515600" cy="315912"/>
          </a:xfrm>
        </p:spPr>
        <p:txBody>
          <a:bodyPr>
            <a:normAutofit/>
          </a:bodyPr>
          <a:lstStyle/>
          <a:p>
            <a:pPr algn="ctr"/>
            <a:r>
              <a:rPr lang="en-US" sz="1400" dirty="0">
                <a:latin typeface="Inter 18pt" panose="02000503000000020004" pitchFamily="2" charset="0"/>
                <a:ea typeface="Inter 18pt" panose="02000503000000020004" pitchFamily="2" charset="0"/>
              </a:rPr>
              <a:t>Relationship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BB0E81-FC3B-40C1-8513-B1E3E3D5AF93}"/>
              </a:ext>
            </a:extLst>
          </p:cNvPr>
          <p:cNvSpPr/>
          <p:nvPr/>
        </p:nvSpPr>
        <p:spPr>
          <a:xfrm>
            <a:off x="571500" y="635000"/>
            <a:ext cx="1663700" cy="2159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Feedback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279293-6D82-4853-AA02-3738A36CE577}"/>
              </a:ext>
            </a:extLst>
          </p:cNvPr>
          <p:cNvSpPr/>
          <p:nvPr/>
        </p:nvSpPr>
        <p:spPr>
          <a:xfrm>
            <a:off x="2324100" y="635000"/>
            <a:ext cx="9410700" cy="2159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000" dirty="0">
                <a:latin typeface="Inter 18pt" panose="02000503000000020004" pitchFamily="2" charset="0"/>
                <a:ea typeface="Inter 18pt" panose="02000503000000020004" pitchFamily="2" charset="0"/>
              </a:rPr>
              <a:t>Int id, string phone, string roll, datetime roll</a:t>
            </a:r>
          </a:p>
        </p:txBody>
      </p:sp>
    </p:spTree>
    <p:extLst>
      <p:ext uri="{BB962C8B-B14F-4D97-AF65-F5344CB8AC3E}">
        <p14:creationId xmlns:p14="http://schemas.microsoft.com/office/powerpoint/2010/main" val="2596300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544</Words>
  <Application>Microsoft Office PowerPoint</Application>
  <PresentationFormat>Widescreen</PresentationFormat>
  <Paragraphs>103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Inter 18pt</vt:lpstr>
      <vt:lpstr>Lato</vt:lpstr>
      <vt:lpstr>Office Theme</vt:lpstr>
      <vt:lpstr>BIAM Feedback and Hostel Management  15/02/2026</vt:lpstr>
      <vt:lpstr>High Level Overview (Updated: 15/02/2026) - Running </vt:lpstr>
      <vt:lpstr>High Level Overview (Updated: 15/02/2026) – Proposed v1 </vt:lpstr>
      <vt:lpstr>PowerPoint Presentation</vt:lpstr>
      <vt:lpstr>PowerPoint Presentation</vt:lpstr>
      <vt:lpstr>PowerPoint Presentation</vt:lpstr>
      <vt:lpstr>Models</vt:lpstr>
      <vt:lpstr>Relationship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BIAM Recruitment Exam</dc:title>
  <dc:creator>BIAM</dc:creator>
  <cp:lastModifiedBy>BIAM</cp:lastModifiedBy>
  <cp:revision>136</cp:revision>
  <cp:lastPrinted>2026-02-15T07:27:29Z</cp:lastPrinted>
  <dcterms:created xsi:type="dcterms:W3CDTF">2026-01-11T08:37:07Z</dcterms:created>
  <dcterms:modified xsi:type="dcterms:W3CDTF">2026-02-15T11:03:21Z</dcterms:modified>
</cp:coreProperties>
</file>