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5" r:id="rId5"/>
    <p:sldId id="262" r:id="rId6"/>
    <p:sldId id="270" r:id="rId7"/>
    <p:sldId id="271" r:id="rId8"/>
    <p:sldId id="259" r:id="rId9"/>
    <p:sldId id="263" r:id="rId10"/>
    <p:sldId id="264" r:id="rId11"/>
    <p:sldId id="266" r:id="rId12"/>
    <p:sldId id="272" r:id="rId13"/>
    <p:sldId id="267" r:id="rId14"/>
    <p:sldId id="268" r:id="rId15"/>
    <p:sldId id="269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4139-24CE-43D7-A2F5-A66219BB5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822C8-E44D-4586-9A76-FD48151C7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3014-53C4-41A3-9DC0-9114B60C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7DDC-5D11-4CF9-AD28-01332F84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B7CA-9A13-4734-AAA6-DFFE070F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6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4CC8-C6C3-4166-BD68-DBE0C0C1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2240-B5C5-4672-8E0D-675B7BD6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49207-8E72-414D-BC01-F1181948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94F6-6C14-4AEA-98DF-875933DE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4AE5-E543-4C5A-8B91-3CCEED8F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2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7E63-FF6C-49E9-A6B5-4CA0F9FE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F795C-8A63-44F3-A1B8-9B25889F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A12D-C88A-4344-85C5-1EC56233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0902-FFC2-4646-ADB6-2E03FBDC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79CD-A762-46DB-A08D-9A52A87C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0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7FA6-F89C-451F-AD51-8AD94F57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6002-93B9-4273-8093-159CF53CC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0B66F-5986-4CF5-9944-BA60407F4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40E8A-6147-400B-A4A2-85551704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32953-9153-41B3-A8A3-A74E8A23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03D80-3CB0-48A8-9EC9-C7B1CE7C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3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3A81-BDB8-466C-BB95-4448EEC0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44740-DCD6-48D2-B252-50EF9457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02B93-1C19-4F12-8BC8-3274BAA4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FBE56-B545-41C2-A45B-87D9E3DCA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DF088-A9CE-4ADC-9A07-A6C719A975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C65D1-E1A8-4044-9806-8087EAD6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9E8D8-E2F9-4C78-BC35-DD05AA30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6520-8A82-4F7A-8898-4AC571B5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F1DA-2B3E-4173-AD69-1A5D6C75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9378B-9BEB-4522-A4E1-8DD5B6BE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98902-05B0-4472-AB38-DA7E0C0F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25AD-ED10-4835-9A98-2E6FD85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0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7769A-4ECD-4180-89C7-93C77149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56BC6-979D-4A56-8E98-7936F64E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0B78-CD03-43FA-BEA8-20CC402AA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3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E7EF-4E54-43E9-85DE-01A47F69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7E76-4359-4757-A2B9-47647204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A6461-564F-4278-80F5-A35C863CB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B7400-2053-44FD-BC88-4FC3930E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EFA72-5F53-490A-9DD7-45AD7CCB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2F842-4E19-42D3-AB33-8634E39C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2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D4E2-C33B-4CD3-B46D-5916E240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AA9BB-D766-4ADB-936C-D924FB856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D79E9-5FF7-4849-ABBF-07BC55F98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81A00-335E-421A-A05D-704F826D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4A5BF-43FF-45C8-B118-7FA65F04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2965F-4889-40A1-88C8-E6741BE9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6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680F-5290-43DA-91BB-DE9275A9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75FBC-BB49-4679-8EBF-3F138F72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A129-9A20-477F-811F-5AA175B8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0CC7-5CBC-44C9-B785-468E27F8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8EFC8-5DB1-4359-BF18-3D7DC201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11DBB-BDD8-4DDF-A29D-C6C50A6E6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53425-2B8E-41AD-A874-CFF3B24A4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CADA-AF9C-4753-9CE2-FA436703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B7CC-3BA8-42C6-BF9F-530638CF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5518-7BA3-49E0-9D80-D20BAA07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0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B3C54-73A1-4E6F-93C6-31952155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342FE-075D-4656-919E-F8CA39B8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6CDF1-9DCB-4BE8-A733-3F2EED505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682CF-FAD7-4BD3-8747-1696A45B068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56DD4-3CAD-4D05-8818-33CD95D1F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BE85D-4262-46FA-A92F-CDE6840D8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6B43-2D9F-4DD2-99C9-DA2744524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3.svg"/><Relationship Id="rId5" Type="http://schemas.openxmlformats.org/officeDocument/2006/relationships/image" Target="../media/image5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3.svg"/><Relationship Id="rId5" Type="http://schemas.openxmlformats.org/officeDocument/2006/relationships/image" Target="../media/image5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A13F-BDB2-463F-AD4F-E473D7289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51616"/>
            <a:ext cx="9144000" cy="114060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BIAM Feedback and Hostel Management</a:t>
            </a:r>
            <a:b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b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r>
              <a:rPr lang="en-US" sz="14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15/02/2026</a:t>
            </a:r>
          </a:p>
        </p:txBody>
      </p:sp>
      <p:pic>
        <p:nvPicPr>
          <p:cNvPr id="1028" name="Picture 4" descr="BIAM Foundation | Dhaka">
            <a:extLst>
              <a:ext uri="{FF2B5EF4-FFF2-40B4-BE49-F238E27FC236}">
                <a16:creationId xmlns:a16="http://schemas.microsoft.com/office/drawing/2014/main" id="{887CC4B7-4439-4C86-992A-CDE7CEA8F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377" y="1807310"/>
            <a:ext cx="1316084" cy="11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85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>
            <a:extLst>
              <a:ext uri="{FF2B5EF4-FFF2-40B4-BE49-F238E27FC236}">
                <a16:creationId xmlns:a16="http://schemas.microsoft.com/office/drawing/2014/main" id="{0C492EFC-6D53-44DA-9BB2-E6492B3C12C3}"/>
              </a:ext>
            </a:extLst>
          </p:cNvPr>
          <p:cNvSpPr/>
          <p:nvPr/>
        </p:nvSpPr>
        <p:spPr>
          <a:xfrm>
            <a:off x="8216899" y="3774742"/>
            <a:ext cx="3670299" cy="2081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294C26F-1989-438C-848C-C3E5A2679AFC}"/>
              </a:ext>
            </a:extLst>
          </p:cNvPr>
          <p:cNvSpPr/>
          <p:nvPr/>
        </p:nvSpPr>
        <p:spPr>
          <a:xfrm>
            <a:off x="7581239" y="1002103"/>
            <a:ext cx="1788944" cy="12091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3E7DDD5-EC12-49FF-8C9B-030CB74C1D8A}"/>
              </a:ext>
            </a:extLst>
          </p:cNvPr>
          <p:cNvSpPr/>
          <p:nvPr/>
        </p:nvSpPr>
        <p:spPr>
          <a:xfrm>
            <a:off x="9916344" y="325146"/>
            <a:ext cx="1857229" cy="1211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2054" y="151516"/>
            <a:ext cx="5313953" cy="2526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High Level Overview (Updated: 15/02/2026) – Stable</a:t>
            </a:r>
            <a:br>
              <a:rPr lang="en-US" sz="1400" b="1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400" b="1" dirty="0">
              <a:solidFill>
                <a:srgbClr val="00B05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71339BF-84EB-4FAA-9F2C-67677E754C47}"/>
              </a:ext>
            </a:extLst>
          </p:cNvPr>
          <p:cNvSpPr/>
          <p:nvPr/>
        </p:nvSpPr>
        <p:spPr>
          <a:xfrm>
            <a:off x="423082" y="887106"/>
            <a:ext cx="423080" cy="42308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F672EB78-A3B3-40C3-BD87-518C75E823A1}"/>
              </a:ext>
            </a:extLst>
          </p:cNvPr>
          <p:cNvSpPr/>
          <p:nvPr/>
        </p:nvSpPr>
        <p:spPr>
          <a:xfrm>
            <a:off x="1364777" y="887106"/>
            <a:ext cx="914400" cy="42308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Login (/login)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C130BC-5B3A-4294-B8A5-2263105CF140}"/>
              </a:ext>
            </a:extLst>
          </p:cNvPr>
          <p:cNvCxnSpPr/>
          <p:nvPr/>
        </p:nvCxnSpPr>
        <p:spPr>
          <a:xfrm>
            <a:off x="900752" y="1098646"/>
            <a:ext cx="354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8CA756A-53A8-49EF-9033-947838E8799D}"/>
              </a:ext>
            </a:extLst>
          </p:cNvPr>
          <p:cNvSpPr/>
          <p:nvPr/>
        </p:nvSpPr>
        <p:spPr>
          <a:xfrm>
            <a:off x="2934267" y="852986"/>
            <a:ext cx="147396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Feedback Form (/)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AA83C1-BA4A-4F04-A1C9-4383BFB99029}"/>
              </a:ext>
            </a:extLst>
          </p:cNvPr>
          <p:cNvCxnSpPr/>
          <p:nvPr/>
        </p:nvCxnSpPr>
        <p:spPr>
          <a:xfrm>
            <a:off x="2374710" y="1098646"/>
            <a:ext cx="464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0B70951-EB1D-4855-A514-BB8ED1C2B162}"/>
              </a:ext>
            </a:extLst>
          </p:cNvPr>
          <p:cNvSpPr/>
          <p:nvPr/>
        </p:nvSpPr>
        <p:spPr>
          <a:xfrm>
            <a:off x="5017405" y="407871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Home </a:t>
            </a:r>
            <a:r>
              <a:rPr lang="en-US" sz="8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(/) 308</a:t>
            </a:r>
            <a:endParaRPr lang="en-US" sz="1000" dirty="0">
              <a:solidFill>
                <a:srgbClr val="FF000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26E7933-718C-4C2B-A9A7-81ADEDE8CF4C}"/>
              </a:ext>
            </a:extLst>
          </p:cNvPr>
          <p:cNvSpPr/>
          <p:nvPr/>
        </p:nvSpPr>
        <p:spPr>
          <a:xfrm>
            <a:off x="1444888" y="1958405"/>
            <a:ext cx="914400" cy="696036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16D01C-3EB6-44E5-AFED-33BFE2804968}"/>
              </a:ext>
            </a:extLst>
          </p:cNvPr>
          <p:cNvSpPr/>
          <p:nvPr/>
        </p:nvSpPr>
        <p:spPr>
          <a:xfrm>
            <a:off x="5016135" y="762662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Hostel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</a:t>
            </a:r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3B91D-CC08-49BF-ABA0-CEB4DE932643}"/>
              </a:ext>
            </a:extLst>
          </p:cNvPr>
          <p:cNvSpPr/>
          <p:nvPr/>
        </p:nvSpPr>
        <p:spPr>
          <a:xfrm>
            <a:off x="5010441" y="1117453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Report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(/admin/report)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EDB70C-CBC1-461E-B78C-BAD616191695}"/>
              </a:ext>
            </a:extLst>
          </p:cNvPr>
          <p:cNvCxnSpPr>
            <a:cxnSpLocks/>
          </p:cNvCxnSpPr>
          <p:nvPr/>
        </p:nvCxnSpPr>
        <p:spPr>
          <a:xfrm flipV="1">
            <a:off x="4401877" y="622300"/>
            <a:ext cx="544773" cy="45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7D481A-CC26-4CD6-BAE6-5E58DF2658C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408227" y="935536"/>
            <a:ext cx="578698" cy="146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A288D3-CC0B-4CF0-B01F-F3CBB3DE96F1}"/>
              </a:ext>
            </a:extLst>
          </p:cNvPr>
          <p:cNvCxnSpPr>
            <a:cxnSpLocks/>
          </p:cNvCxnSpPr>
          <p:nvPr/>
        </p:nvCxnSpPr>
        <p:spPr>
          <a:xfrm>
            <a:off x="4414577" y="1100539"/>
            <a:ext cx="559648" cy="146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89D72-92E4-453C-8D40-A0056FB4C088}"/>
              </a:ext>
            </a:extLst>
          </p:cNvPr>
          <p:cNvSpPr/>
          <p:nvPr/>
        </p:nvSpPr>
        <p:spPr>
          <a:xfrm>
            <a:off x="6414260" y="403108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(/admin/hostel/check-in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23CFAA-01CB-4178-91A6-68CB3890EDE0}"/>
              </a:ext>
            </a:extLst>
          </p:cNvPr>
          <p:cNvSpPr/>
          <p:nvPr/>
        </p:nvSpPr>
        <p:spPr>
          <a:xfrm>
            <a:off x="7944610" y="411544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(/admin/hostel/checkout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BD70B4-AB21-4771-A435-41ABE5BF4D1A}"/>
              </a:ext>
            </a:extLst>
          </p:cNvPr>
          <p:cNvSpPr/>
          <p:nvPr/>
        </p:nvSpPr>
        <p:spPr>
          <a:xfrm>
            <a:off x="2934267" y="1573023"/>
            <a:ext cx="57869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SMS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0C76C772-7F42-436B-B3DD-2C9290814D25}"/>
              </a:ext>
            </a:extLst>
          </p:cNvPr>
          <p:cNvCxnSpPr>
            <a:stCxn id="18" idx="3"/>
            <a:endCxn id="34" idx="1"/>
          </p:cNvCxnSpPr>
          <p:nvPr/>
        </p:nvCxnSpPr>
        <p:spPr>
          <a:xfrm flipV="1">
            <a:off x="5930535" y="562570"/>
            <a:ext cx="483725" cy="3595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5994ED3-8A66-43B0-89A1-D1EA8FA2BF56}"/>
              </a:ext>
            </a:extLst>
          </p:cNvPr>
          <p:cNvCxnSpPr>
            <a:cxnSpLocks/>
          </p:cNvCxnSpPr>
          <p:nvPr/>
        </p:nvCxnSpPr>
        <p:spPr>
          <a:xfrm flipV="1">
            <a:off x="6172397" y="710080"/>
            <a:ext cx="2459600" cy="204356"/>
          </a:xfrm>
          <a:prstGeom prst="bentConnector3">
            <a:avLst>
              <a:gd name="adj1" fmla="val 1000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264840F8-1014-4A74-8397-AFE08A28D649}"/>
              </a:ext>
            </a:extLst>
          </p:cNvPr>
          <p:cNvSpPr/>
          <p:nvPr/>
        </p:nvSpPr>
        <p:spPr>
          <a:xfrm>
            <a:off x="7657441" y="1072997"/>
            <a:ext cx="163017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Guest Feedback Report 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(POST /admin/report/generate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78C27C-8504-455A-974D-67B2162F1DB9}"/>
              </a:ext>
            </a:extLst>
          </p:cNvPr>
          <p:cNvSpPr/>
          <p:nvPr/>
        </p:nvSpPr>
        <p:spPr>
          <a:xfrm>
            <a:off x="7657440" y="1444761"/>
            <a:ext cx="163017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Occupancies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(GET /admin/report/{query}{msg}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B93571-2D42-4E2E-A3B7-A34E0154DF70}"/>
              </a:ext>
            </a:extLst>
          </p:cNvPr>
          <p:cNvSpPr/>
          <p:nvPr/>
        </p:nvSpPr>
        <p:spPr>
          <a:xfrm>
            <a:off x="7657439" y="1816525"/>
            <a:ext cx="163017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Vacancies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(GET /admin/report/{query}{msg}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458EF7E-4337-4FD5-B4CF-AF525A7A8744}"/>
              </a:ext>
            </a:extLst>
          </p:cNvPr>
          <p:cNvCxnSpPr>
            <a:stCxn id="19" idx="3"/>
            <a:endCxn id="59" idx="1"/>
          </p:cNvCxnSpPr>
          <p:nvPr/>
        </p:nvCxnSpPr>
        <p:spPr>
          <a:xfrm flipV="1">
            <a:off x="5924841" y="1232459"/>
            <a:ext cx="1732600" cy="444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649ECFE-9819-461A-95BD-3847DE31ECA7}"/>
              </a:ext>
            </a:extLst>
          </p:cNvPr>
          <p:cNvCxnSpPr>
            <a:cxnSpLocks/>
            <a:stCxn id="19" idx="3"/>
            <a:endCxn id="60" idx="1"/>
          </p:cNvCxnSpPr>
          <p:nvPr/>
        </p:nvCxnSpPr>
        <p:spPr>
          <a:xfrm>
            <a:off x="5924841" y="1276915"/>
            <a:ext cx="1732599" cy="327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4279630D-D6DF-4253-AAE4-1F04B88C2E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96360" y="1462148"/>
            <a:ext cx="5155730" cy="914192"/>
          </a:xfrm>
          <a:prstGeom prst="bentConnector3">
            <a:avLst>
              <a:gd name="adj1" fmla="val 25382"/>
            </a:avLst>
          </a:prstGeom>
          <a:ln w="9525" cap="flat" cmpd="sng" algn="ctr">
            <a:solidFill>
              <a:schemeClr val="accent6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Cylinder 85">
            <a:extLst>
              <a:ext uri="{FF2B5EF4-FFF2-40B4-BE49-F238E27FC236}">
                <a16:creationId xmlns:a16="http://schemas.microsoft.com/office/drawing/2014/main" id="{02C244C3-C8A9-43C3-9F62-616669CFA14B}"/>
              </a:ext>
            </a:extLst>
          </p:cNvPr>
          <p:cNvSpPr/>
          <p:nvPr/>
        </p:nvSpPr>
        <p:spPr>
          <a:xfrm>
            <a:off x="1443860" y="2754338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Users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B5B4FC7-3EC5-433F-9E78-82137F388467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>
            <a:off x="2565164" y="1133385"/>
            <a:ext cx="929282" cy="1282885"/>
          </a:xfrm>
          <a:prstGeom prst="bentConnector2">
            <a:avLst/>
          </a:prstGeom>
          <a:ln>
            <a:prstDash val="dash"/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B37E2A1-150D-4226-9AF4-60A0EC4FD269}"/>
              </a:ext>
            </a:extLst>
          </p:cNvPr>
          <p:cNvCxnSpPr/>
          <p:nvPr/>
        </p:nvCxnSpPr>
        <p:spPr>
          <a:xfrm>
            <a:off x="3219736" y="1359131"/>
            <a:ext cx="0" cy="185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03E743A4-DEAA-4EA2-BE95-2B27BB9C52B8}"/>
              </a:ext>
            </a:extLst>
          </p:cNvPr>
          <p:cNvCxnSpPr>
            <a:cxnSpLocks/>
          </p:cNvCxnSpPr>
          <p:nvPr/>
        </p:nvCxnSpPr>
        <p:spPr>
          <a:xfrm rot="5400000">
            <a:off x="2718732" y="1596871"/>
            <a:ext cx="182512" cy="827256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B96192-EB7C-40D9-9667-0CAD83A84AD4}"/>
              </a:ext>
            </a:extLst>
          </p:cNvPr>
          <p:cNvSpPr/>
          <p:nvPr/>
        </p:nvSpPr>
        <p:spPr>
          <a:xfrm>
            <a:off x="9992544" y="764566"/>
            <a:ext cx="171437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(POST /admin/check-in/{id}/refresh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08" name="Graphic 107" descr="Lock">
            <a:extLst>
              <a:ext uri="{FF2B5EF4-FFF2-40B4-BE49-F238E27FC236}">
                <a16:creationId xmlns:a16="http://schemas.microsoft.com/office/drawing/2014/main" id="{21AE184C-35E1-4750-A828-249E3E949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3795" y="798752"/>
            <a:ext cx="152400" cy="152400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C00FF75-46A2-449C-9AC9-49F270E479F7}"/>
              </a:ext>
            </a:extLst>
          </p:cNvPr>
          <p:cNvGrpSpPr/>
          <p:nvPr/>
        </p:nvGrpSpPr>
        <p:grpSpPr>
          <a:xfrm>
            <a:off x="9992545" y="1167203"/>
            <a:ext cx="1714376" cy="318924"/>
            <a:chOff x="9319383" y="4532012"/>
            <a:chExt cx="1714376" cy="31892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A21E7F8-F52A-4C78-B079-8BE4AFE40705}"/>
                </a:ext>
              </a:extLst>
            </p:cNvPr>
            <p:cNvSpPr/>
            <p:nvPr/>
          </p:nvSpPr>
          <p:spPr>
            <a:xfrm>
              <a:off x="9319383" y="4532012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Delete 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/admin/check-in/{id}/minus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09" name="Graphic 108" descr="Lock">
              <a:extLst>
                <a:ext uri="{FF2B5EF4-FFF2-40B4-BE49-F238E27FC236}">
                  <a16:creationId xmlns:a16="http://schemas.microsoft.com/office/drawing/2014/main" id="{15162385-F98D-4470-A21C-F5827F3AA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37421" y="4539074"/>
              <a:ext cx="152400" cy="152400"/>
            </a:xfrm>
            <a:prstGeom prst="rect">
              <a:avLst/>
            </a:prstGeom>
          </p:spPr>
        </p:pic>
        <p:pic>
          <p:nvPicPr>
            <p:cNvPr id="111" name="Graphic 110" descr="Key">
              <a:extLst>
                <a:ext uri="{FF2B5EF4-FFF2-40B4-BE49-F238E27FC236}">
                  <a16:creationId xmlns:a16="http://schemas.microsoft.com/office/drawing/2014/main" id="{DC03482A-4BAA-49CF-8D10-C8ADF69A8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0731" y="4542884"/>
              <a:ext cx="181516" cy="181516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DE38839-26B5-4501-86F7-48A87346CBAF}"/>
              </a:ext>
            </a:extLst>
          </p:cNvPr>
          <p:cNvGrpSpPr/>
          <p:nvPr/>
        </p:nvGrpSpPr>
        <p:grpSpPr>
          <a:xfrm>
            <a:off x="9992545" y="375946"/>
            <a:ext cx="1714376" cy="318924"/>
            <a:chOff x="9319383" y="3740755"/>
            <a:chExt cx="1714376" cy="31892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237E889-DCFF-4C2A-8E89-F7D7BAC9586B}"/>
                </a:ext>
              </a:extLst>
            </p:cNvPr>
            <p:cNvSpPr/>
            <p:nvPr/>
          </p:nvSpPr>
          <p:spPr>
            <a:xfrm>
              <a:off x="9319383" y="3740755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Create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/admin/check-in/plus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14" name="Graphic 113" descr="Key">
              <a:extLst>
                <a:ext uri="{FF2B5EF4-FFF2-40B4-BE49-F238E27FC236}">
                  <a16:creationId xmlns:a16="http://schemas.microsoft.com/office/drawing/2014/main" id="{D55D9960-D172-4BE3-94D1-BBF3BCFF2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85446" y="3753549"/>
              <a:ext cx="181516" cy="181516"/>
            </a:xfrm>
            <a:prstGeom prst="rect">
              <a:avLst/>
            </a:prstGeom>
          </p:spPr>
        </p:pic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91D3CCA-EF43-442F-8D0A-E7FBDC0D9E81}"/>
              </a:ext>
            </a:extLst>
          </p:cNvPr>
          <p:cNvSpPr/>
          <p:nvPr/>
        </p:nvSpPr>
        <p:spPr>
          <a:xfrm>
            <a:off x="4683678" y="2171729"/>
            <a:ext cx="914400" cy="4265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Cache</a:t>
            </a:r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E373C9BB-68A5-4523-9D8F-F37D34C24326}"/>
              </a:ext>
            </a:extLst>
          </p:cNvPr>
          <p:cNvSpPr/>
          <p:nvPr/>
        </p:nvSpPr>
        <p:spPr>
          <a:xfrm>
            <a:off x="4683678" y="2754338"/>
            <a:ext cx="914400" cy="914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34" name="Graphic 133" descr="Skull">
            <a:extLst>
              <a:ext uri="{FF2B5EF4-FFF2-40B4-BE49-F238E27FC236}">
                <a16:creationId xmlns:a16="http://schemas.microsoft.com/office/drawing/2014/main" id="{0E4A109D-41EC-43BC-8012-5C9787371D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641" y="3009119"/>
            <a:ext cx="355600" cy="355600"/>
          </a:xfrm>
          <a:prstGeom prst="rect">
            <a:avLst/>
          </a:prstGeom>
        </p:spPr>
      </p:pic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A462DD5-5D3C-4608-BE23-AD3EF2499166}"/>
              </a:ext>
            </a:extLst>
          </p:cNvPr>
          <p:cNvCxnSpPr/>
          <p:nvPr/>
        </p:nvCxnSpPr>
        <p:spPr>
          <a:xfrm flipV="1">
            <a:off x="7150100" y="138816"/>
            <a:ext cx="0" cy="262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56BB50AF-2466-4E93-9298-35DECA62B3D2}"/>
              </a:ext>
            </a:extLst>
          </p:cNvPr>
          <p:cNvCxnSpPr>
            <a:endCxn id="147" idx="0"/>
          </p:cNvCxnSpPr>
          <p:nvPr/>
        </p:nvCxnSpPr>
        <p:spPr>
          <a:xfrm>
            <a:off x="7150100" y="138816"/>
            <a:ext cx="3694859" cy="1863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E252A5CE-9416-400B-A4E9-400D439F0FE9}"/>
              </a:ext>
            </a:extLst>
          </p:cNvPr>
          <p:cNvCxnSpPr>
            <a:cxnSpLocks/>
            <a:stCxn id="106" idx="2"/>
            <a:endCxn id="132" idx="3"/>
          </p:cNvCxnSpPr>
          <p:nvPr/>
        </p:nvCxnSpPr>
        <p:spPr>
          <a:xfrm rot="5400000">
            <a:off x="7361201" y="-276995"/>
            <a:ext cx="1725411" cy="5251655"/>
          </a:xfrm>
          <a:prstGeom prst="bentConnector2">
            <a:avLst/>
          </a:prstGeom>
          <a:ln>
            <a:solidFill>
              <a:srgbClr val="F6121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13B9618-B6C8-4171-A68E-7B3CF395416B}"/>
              </a:ext>
            </a:extLst>
          </p:cNvPr>
          <p:cNvSpPr/>
          <p:nvPr/>
        </p:nvSpPr>
        <p:spPr>
          <a:xfrm>
            <a:off x="5718410" y="2886008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Request Filters</a:t>
            </a:r>
          </a:p>
        </p:txBody>
      </p:sp>
      <p:sp>
        <p:nvSpPr>
          <p:cNvPr id="169" name="Cylinder 168">
            <a:extLst>
              <a:ext uri="{FF2B5EF4-FFF2-40B4-BE49-F238E27FC236}">
                <a16:creationId xmlns:a16="http://schemas.microsoft.com/office/drawing/2014/main" id="{C1226365-FED1-45DA-A25B-1AF4B54CAE51}"/>
              </a:ext>
            </a:extLst>
          </p:cNvPr>
          <p:cNvSpPr/>
          <p:nvPr/>
        </p:nvSpPr>
        <p:spPr>
          <a:xfrm>
            <a:off x="1443860" y="3696599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5AAD2A1-BB69-479B-9ECE-F9EF8CB849D7}"/>
              </a:ext>
            </a:extLst>
          </p:cNvPr>
          <p:cNvGrpSpPr/>
          <p:nvPr/>
        </p:nvGrpSpPr>
        <p:grpSpPr>
          <a:xfrm>
            <a:off x="8327867" y="3876859"/>
            <a:ext cx="3445706" cy="1873083"/>
            <a:chOff x="8568494" y="3876859"/>
            <a:chExt cx="3445706" cy="1873083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3F669DB-9DCF-46DE-B817-5AD2437205DD}"/>
                </a:ext>
              </a:extLst>
            </p:cNvPr>
            <p:cNvSpPr/>
            <p:nvPr/>
          </p:nvSpPr>
          <p:spPr>
            <a:xfrm>
              <a:off x="8568497" y="3876859"/>
              <a:ext cx="3445703" cy="6062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Verify Guest (With phone) 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Status != checked out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/admin/hostel/checkout/{phone})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3BFEF60-5FF7-460D-B648-9308A45D84B6}"/>
                </a:ext>
              </a:extLst>
            </p:cNvPr>
            <p:cNvSpPr/>
            <p:nvPr/>
          </p:nvSpPr>
          <p:spPr>
            <a:xfrm>
              <a:off x="8568494" y="4732450"/>
              <a:ext cx="3445703" cy="3381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Calculate Stayed, Discount, VAT &amp; Tax, Total Bill  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333A662-0E51-4864-966F-BF96B5613597}"/>
                </a:ext>
              </a:extLst>
            </p:cNvPr>
            <p:cNvSpPr/>
            <p:nvPr/>
          </p:nvSpPr>
          <p:spPr>
            <a:xfrm>
              <a:off x="8568495" y="5294501"/>
              <a:ext cx="3445703" cy="45544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Confirm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/admin/hostel/checkout/{phone})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 </a:t>
              </a:r>
            </a:p>
          </p:txBody>
        </p: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3750E22-0C9F-4E9A-A563-D30F619C0DE7}"/>
                </a:ext>
              </a:extLst>
            </p:cNvPr>
            <p:cNvCxnSpPr/>
            <p:nvPr/>
          </p:nvCxnSpPr>
          <p:spPr>
            <a:xfrm>
              <a:off x="10128541" y="5070551"/>
              <a:ext cx="0" cy="192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C7C2DF44-77DB-4486-8931-2FD62A5F69FD}"/>
                </a:ext>
              </a:extLst>
            </p:cNvPr>
            <p:cNvCxnSpPr/>
            <p:nvPr/>
          </p:nvCxnSpPr>
          <p:spPr>
            <a:xfrm>
              <a:off x="10128541" y="4498261"/>
              <a:ext cx="0" cy="192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9236E1FC-6E6A-46A6-9013-21918B74EEDA}"/>
              </a:ext>
            </a:extLst>
          </p:cNvPr>
          <p:cNvCxnSpPr>
            <a:stCxn id="132" idx="0"/>
          </p:cNvCxnSpPr>
          <p:nvPr/>
        </p:nvCxnSpPr>
        <p:spPr>
          <a:xfrm rot="16200000" flipH="1" flipV="1">
            <a:off x="3702784" y="1447913"/>
            <a:ext cx="131670" cy="2744519"/>
          </a:xfrm>
          <a:prstGeom prst="bentConnector4">
            <a:avLst>
              <a:gd name="adj1" fmla="val -9645"/>
              <a:gd name="adj2" fmla="val 58329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0C9E733-A271-41CD-8066-C0C1707A4BB5}"/>
              </a:ext>
            </a:extLst>
          </p:cNvPr>
          <p:cNvSpPr/>
          <p:nvPr/>
        </p:nvSpPr>
        <p:spPr>
          <a:xfrm>
            <a:off x="3058617" y="3935005"/>
            <a:ext cx="1225259" cy="6731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Transection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Create Checkout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Users</a:t>
            </a:r>
          </a:p>
          <a:p>
            <a:pPr algn="ctr"/>
            <a:r>
              <a:rPr lang="en-US" sz="1000" b="1" dirty="0">
                <a:solidFill>
                  <a:srgbClr val="C0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Roll back if fail</a:t>
            </a:r>
          </a:p>
        </p:txBody>
      </p:sp>
      <p:cxnSp>
        <p:nvCxnSpPr>
          <p:cNvPr id="198" name="Connector: Elbow 197">
            <a:extLst>
              <a:ext uri="{FF2B5EF4-FFF2-40B4-BE49-F238E27FC236}">
                <a16:creationId xmlns:a16="http://schemas.microsoft.com/office/drawing/2014/main" id="{B0A7D101-3172-4286-8E4F-6E1B89BBDCC0}"/>
              </a:ext>
            </a:extLst>
          </p:cNvPr>
          <p:cNvCxnSpPr>
            <a:cxnSpLocks/>
            <a:endCxn id="132" idx="2"/>
          </p:cNvCxnSpPr>
          <p:nvPr/>
        </p:nvCxnSpPr>
        <p:spPr>
          <a:xfrm rot="10800000">
            <a:off x="5140879" y="3668738"/>
            <a:ext cx="3186991" cy="187873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BF22DAD2-9CEE-4A7D-8D64-D24D4729B20C}"/>
              </a:ext>
            </a:extLst>
          </p:cNvPr>
          <p:cNvCxnSpPr>
            <a:stCxn id="196" idx="1"/>
            <a:endCxn id="169" idx="3"/>
          </p:cNvCxnSpPr>
          <p:nvPr/>
        </p:nvCxnSpPr>
        <p:spPr>
          <a:xfrm rot="10800000" flipV="1">
            <a:off x="1901061" y="4271555"/>
            <a:ext cx="1157557" cy="239405"/>
          </a:xfrm>
          <a:prstGeom prst="bentConnector4">
            <a:avLst>
              <a:gd name="adj1" fmla="val 30251"/>
              <a:gd name="adj2" fmla="val 23606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2257CE29-C29B-418D-B4C0-81F9D69A5FDF}"/>
              </a:ext>
            </a:extLst>
          </p:cNvPr>
          <p:cNvCxnSpPr>
            <a:stCxn id="132" idx="1"/>
            <a:endCxn id="196" idx="3"/>
          </p:cNvCxnSpPr>
          <p:nvPr/>
        </p:nvCxnSpPr>
        <p:spPr>
          <a:xfrm rot="10800000" flipV="1">
            <a:off x="4283876" y="3211538"/>
            <a:ext cx="399802" cy="1060018"/>
          </a:xfrm>
          <a:prstGeom prst="bentConnector3">
            <a:avLst/>
          </a:prstGeom>
          <a:ln>
            <a:solidFill>
              <a:srgbClr val="F612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4DA05B2-2E82-4FF6-883C-A5092D783884}"/>
              </a:ext>
            </a:extLst>
          </p:cNvPr>
          <p:cNvSpPr/>
          <p:nvPr/>
        </p:nvSpPr>
        <p:spPr>
          <a:xfrm>
            <a:off x="3074393" y="3101474"/>
            <a:ext cx="1225257" cy="526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Update Status: 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Checked out</a:t>
            </a:r>
          </a:p>
        </p:txBody>
      </p: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FFF3204A-1EFF-4279-8D80-BFD1B566B177}"/>
              </a:ext>
            </a:extLst>
          </p:cNvPr>
          <p:cNvCxnSpPr>
            <a:stCxn id="35" idx="3"/>
          </p:cNvCxnSpPr>
          <p:nvPr/>
        </p:nvCxnSpPr>
        <p:spPr>
          <a:xfrm>
            <a:off x="9319383" y="571006"/>
            <a:ext cx="408817" cy="32037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1085ACE-D6CD-4094-88EB-42D88A98ACF8}"/>
              </a:ext>
            </a:extLst>
          </p:cNvPr>
          <p:cNvCxnSpPr>
            <a:cxnSpLocks/>
          </p:cNvCxnSpPr>
          <p:nvPr/>
        </p:nvCxnSpPr>
        <p:spPr>
          <a:xfrm flipV="1">
            <a:off x="3687021" y="3641157"/>
            <a:ext cx="0" cy="2671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DA117931-EBE0-47C5-A6B0-C5D18BBFA1DC}"/>
              </a:ext>
            </a:extLst>
          </p:cNvPr>
          <p:cNvCxnSpPr>
            <a:stCxn id="213" idx="1"/>
            <a:endCxn id="86" idx="4"/>
          </p:cNvCxnSpPr>
          <p:nvPr/>
        </p:nvCxnSpPr>
        <p:spPr>
          <a:xfrm rot="10800000">
            <a:off x="2358261" y="3161519"/>
            <a:ext cx="716133" cy="20320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10D57548-5337-4324-9A0B-1A7F01AB9B66}"/>
              </a:ext>
            </a:extLst>
          </p:cNvPr>
          <p:cNvCxnSpPr>
            <a:cxnSpLocks/>
          </p:cNvCxnSpPr>
          <p:nvPr/>
        </p:nvCxnSpPr>
        <p:spPr>
          <a:xfrm>
            <a:off x="2614031" y="3848959"/>
            <a:ext cx="5721148" cy="393486"/>
          </a:xfrm>
          <a:prstGeom prst="bentConnector3">
            <a:avLst>
              <a:gd name="adj1" fmla="val 502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8E7FAA1E-60A5-47BB-AC3A-ED38A1E7F148}"/>
              </a:ext>
            </a:extLst>
          </p:cNvPr>
          <p:cNvCxnSpPr/>
          <p:nvPr/>
        </p:nvCxnSpPr>
        <p:spPr>
          <a:xfrm rot="16200000" flipV="1">
            <a:off x="2236625" y="3471553"/>
            <a:ext cx="419959" cy="3348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056FEB1F-4A81-469C-AE2F-B82BE41BABC6}"/>
              </a:ext>
            </a:extLst>
          </p:cNvPr>
          <p:cNvSpPr txBox="1"/>
          <p:nvPr/>
        </p:nvSpPr>
        <p:spPr>
          <a:xfrm>
            <a:off x="346778" y="1339036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Admin</a:t>
            </a:r>
          </a:p>
        </p:txBody>
      </p:sp>
      <p:sp>
        <p:nvSpPr>
          <p:cNvPr id="250" name="Cylinder 249">
            <a:extLst>
              <a:ext uri="{FF2B5EF4-FFF2-40B4-BE49-F238E27FC236}">
                <a16:creationId xmlns:a16="http://schemas.microsoft.com/office/drawing/2014/main" id="{BA848F14-5C4A-4465-AD79-D33D9D15E4CB}"/>
              </a:ext>
            </a:extLst>
          </p:cNvPr>
          <p:cNvSpPr/>
          <p:nvPr/>
        </p:nvSpPr>
        <p:spPr>
          <a:xfrm>
            <a:off x="1443860" y="5401924"/>
            <a:ext cx="914400" cy="696036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History</a:t>
            </a:r>
          </a:p>
        </p:txBody>
      </p:sp>
      <p:pic>
        <p:nvPicPr>
          <p:cNvPr id="252" name="Graphic 251" descr="Devil face with no fill">
            <a:extLst>
              <a:ext uri="{FF2B5EF4-FFF2-40B4-BE49-F238E27FC236}">
                <a16:creationId xmlns:a16="http://schemas.microsoft.com/office/drawing/2014/main" id="{E23F0962-50F6-4575-881A-9622B696C0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8322" y="5395853"/>
            <a:ext cx="682512" cy="682512"/>
          </a:xfrm>
          <a:prstGeom prst="rect">
            <a:avLst/>
          </a:prstGeom>
        </p:spPr>
      </p:pic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74899C6-037A-42C6-A955-E81EA6AA013F}"/>
              </a:ext>
            </a:extLst>
          </p:cNvPr>
          <p:cNvGrpSpPr/>
          <p:nvPr/>
        </p:nvGrpSpPr>
        <p:grpSpPr>
          <a:xfrm>
            <a:off x="2440954" y="5687308"/>
            <a:ext cx="471529" cy="62634"/>
            <a:chOff x="3899592" y="5547475"/>
            <a:chExt cx="471529" cy="62634"/>
          </a:xfrm>
        </p:grpSpPr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F7E21440-F74F-4D88-BD2A-D601C95347E4}"/>
                </a:ext>
              </a:extLst>
            </p:cNvPr>
            <p:cNvCxnSpPr/>
            <p:nvPr/>
          </p:nvCxnSpPr>
          <p:spPr>
            <a:xfrm>
              <a:off x="3975102" y="5547475"/>
              <a:ext cx="396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424EB534-6370-4A87-9BAE-7E90F1BDA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9592" y="5610109"/>
              <a:ext cx="358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E13B3FA7-F732-44E4-833D-0EE0367B9D14}"/>
              </a:ext>
            </a:extLst>
          </p:cNvPr>
          <p:cNvSpPr txBox="1"/>
          <p:nvPr/>
        </p:nvSpPr>
        <p:spPr>
          <a:xfrm>
            <a:off x="1364777" y="6120738"/>
            <a:ext cx="75632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 event listener monitors for specific events and executes a response—such as storing data—whenever that event is triggered by an action.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259" name="Graphic 258" descr="Devil face with no fill">
            <a:extLst>
              <a:ext uri="{FF2B5EF4-FFF2-40B4-BE49-F238E27FC236}">
                <a16:creationId xmlns:a16="http://schemas.microsoft.com/office/drawing/2014/main" id="{6D28F8E5-6C7F-4BC8-8150-19E486EAAB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22373" y="5395162"/>
            <a:ext cx="288121" cy="288121"/>
          </a:xfrm>
          <a:prstGeom prst="rect">
            <a:avLst/>
          </a:prstGeom>
        </p:spPr>
      </p:pic>
      <p:pic>
        <p:nvPicPr>
          <p:cNvPr id="260" name="Graphic 259" descr="Devil face with no fill">
            <a:extLst>
              <a:ext uri="{FF2B5EF4-FFF2-40B4-BE49-F238E27FC236}">
                <a16:creationId xmlns:a16="http://schemas.microsoft.com/office/drawing/2014/main" id="{F2455ACB-1DC0-4F6C-965A-AE43DFD2EE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04956" y="374749"/>
            <a:ext cx="288121" cy="288121"/>
          </a:xfrm>
          <a:prstGeom prst="rect">
            <a:avLst/>
          </a:prstGeom>
        </p:spPr>
      </p:pic>
      <p:pic>
        <p:nvPicPr>
          <p:cNvPr id="261" name="Graphic 260" descr="Devil face with no fill">
            <a:extLst>
              <a:ext uri="{FF2B5EF4-FFF2-40B4-BE49-F238E27FC236}">
                <a16:creationId xmlns:a16="http://schemas.microsoft.com/office/drawing/2014/main" id="{7E3DB4CA-91E2-4A85-96A1-B90E7D330C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19899" y="794391"/>
            <a:ext cx="288121" cy="288121"/>
          </a:xfrm>
          <a:prstGeom prst="rect">
            <a:avLst/>
          </a:prstGeom>
        </p:spPr>
      </p:pic>
      <p:pic>
        <p:nvPicPr>
          <p:cNvPr id="262" name="Graphic 261" descr="Devil face with no fill">
            <a:extLst>
              <a:ext uri="{FF2B5EF4-FFF2-40B4-BE49-F238E27FC236}">
                <a16:creationId xmlns:a16="http://schemas.microsoft.com/office/drawing/2014/main" id="{CA9072D2-4C3A-4E97-91AC-FB826C5906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32522" y="1182604"/>
            <a:ext cx="288121" cy="28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2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296640-57A8-4E4D-8CA7-C94107A49CC9}"/>
              </a:ext>
            </a:extLst>
          </p:cNvPr>
          <p:cNvSpPr/>
          <p:nvPr/>
        </p:nvSpPr>
        <p:spPr>
          <a:xfrm>
            <a:off x="6421271" y="347453"/>
            <a:ext cx="2970997" cy="815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4C715C53-FF65-4868-8459-4EC216A3F34C}"/>
              </a:ext>
            </a:extLst>
          </p:cNvPr>
          <p:cNvSpPr/>
          <p:nvPr/>
        </p:nvSpPr>
        <p:spPr>
          <a:xfrm>
            <a:off x="4934241" y="338259"/>
            <a:ext cx="1071202" cy="1164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C492EFC-6D53-44DA-9BB2-E6492B3C12C3}"/>
              </a:ext>
            </a:extLst>
          </p:cNvPr>
          <p:cNvSpPr/>
          <p:nvPr/>
        </p:nvSpPr>
        <p:spPr>
          <a:xfrm>
            <a:off x="8227917" y="3774742"/>
            <a:ext cx="3865160" cy="2081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3E7DDD5-EC12-49FF-8C9B-030CB74C1D8A}"/>
              </a:ext>
            </a:extLst>
          </p:cNvPr>
          <p:cNvSpPr/>
          <p:nvPr/>
        </p:nvSpPr>
        <p:spPr>
          <a:xfrm>
            <a:off x="9916344" y="325146"/>
            <a:ext cx="1857229" cy="1211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2" y="138084"/>
            <a:ext cx="5313953" cy="2526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High Level Overview (Updated: 15/02/2026) – Proposed v1 (BIS)</a:t>
            </a:r>
            <a:br>
              <a:rPr lang="en-US" sz="1400" b="1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400" b="1" dirty="0">
              <a:solidFill>
                <a:srgbClr val="00B05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71339BF-84EB-4FAA-9F2C-67677E754C47}"/>
              </a:ext>
            </a:extLst>
          </p:cNvPr>
          <p:cNvSpPr/>
          <p:nvPr/>
        </p:nvSpPr>
        <p:spPr>
          <a:xfrm>
            <a:off x="2619686" y="747622"/>
            <a:ext cx="423080" cy="42308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F672EB78-A3B3-40C3-BD87-518C75E823A1}"/>
              </a:ext>
            </a:extLst>
          </p:cNvPr>
          <p:cNvSpPr/>
          <p:nvPr/>
        </p:nvSpPr>
        <p:spPr>
          <a:xfrm>
            <a:off x="3501091" y="734395"/>
            <a:ext cx="914400" cy="42308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Login (/login)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C130BC-5B3A-4294-B8A5-2263105CF140}"/>
              </a:ext>
            </a:extLst>
          </p:cNvPr>
          <p:cNvCxnSpPr/>
          <p:nvPr/>
        </p:nvCxnSpPr>
        <p:spPr>
          <a:xfrm>
            <a:off x="3105815" y="932197"/>
            <a:ext cx="354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AA83C1-BA4A-4F04-A1C9-4383BFB99029}"/>
              </a:ext>
            </a:extLst>
          </p:cNvPr>
          <p:cNvCxnSpPr/>
          <p:nvPr/>
        </p:nvCxnSpPr>
        <p:spPr>
          <a:xfrm>
            <a:off x="4419417" y="920882"/>
            <a:ext cx="464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0B70951-EB1D-4855-A514-BB8ED1C2B162}"/>
              </a:ext>
            </a:extLst>
          </p:cNvPr>
          <p:cNvSpPr/>
          <p:nvPr/>
        </p:nvSpPr>
        <p:spPr>
          <a:xfrm>
            <a:off x="5017405" y="407871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Home </a:t>
            </a:r>
            <a:r>
              <a:rPr lang="en-US" sz="8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(/) 308</a:t>
            </a:r>
            <a:endParaRPr lang="en-US" sz="1000" dirty="0">
              <a:solidFill>
                <a:srgbClr val="FF000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26E7933-718C-4C2B-A9A7-81ADEDE8CF4C}"/>
              </a:ext>
            </a:extLst>
          </p:cNvPr>
          <p:cNvSpPr/>
          <p:nvPr/>
        </p:nvSpPr>
        <p:spPr>
          <a:xfrm>
            <a:off x="358365" y="5404703"/>
            <a:ext cx="914400" cy="696036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16D01C-3EB6-44E5-AFED-33BFE2804968}"/>
              </a:ext>
            </a:extLst>
          </p:cNvPr>
          <p:cNvSpPr/>
          <p:nvPr/>
        </p:nvSpPr>
        <p:spPr>
          <a:xfrm>
            <a:off x="5016135" y="762662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Hostel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</a:t>
            </a:r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3B91D-CC08-49BF-ABA0-CEB4DE932643}"/>
              </a:ext>
            </a:extLst>
          </p:cNvPr>
          <p:cNvSpPr/>
          <p:nvPr/>
        </p:nvSpPr>
        <p:spPr>
          <a:xfrm>
            <a:off x="5010441" y="1117453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Report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(/admin/report)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89D72-92E4-453C-8D40-A0056FB4C088}"/>
              </a:ext>
            </a:extLst>
          </p:cNvPr>
          <p:cNvSpPr/>
          <p:nvPr/>
        </p:nvSpPr>
        <p:spPr>
          <a:xfrm>
            <a:off x="6503160" y="403108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(/admin/hostel/check-in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23CFAA-01CB-4178-91A6-68CB3890EDE0}"/>
              </a:ext>
            </a:extLst>
          </p:cNvPr>
          <p:cNvSpPr/>
          <p:nvPr/>
        </p:nvSpPr>
        <p:spPr>
          <a:xfrm>
            <a:off x="7944610" y="411544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(/admin/hostel/checkout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BD70B4-AB21-4771-A435-41ABE5BF4D1A}"/>
              </a:ext>
            </a:extLst>
          </p:cNvPr>
          <p:cNvSpPr/>
          <p:nvPr/>
        </p:nvSpPr>
        <p:spPr>
          <a:xfrm>
            <a:off x="6716692" y="6100739"/>
            <a:ext cx="57869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SMS</a:t>
            </a: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8621F85-8E2E-440F-A109-CFC1D9F524F6}"/>
              </a:ext>
            </a:extLst>
          </p:cNvPr>
          <p:cNvGrpSpPr/>
          <p:nvPr/>
        </p:nvGrpSpPr>
        <p:grpSpPr>
          <a:xfrm>
            <a:off x="7581239" y="1827603"/>
            <a:ext cx="1788944" cy="1209137"/>
            <a:chOff x="7581239" y="1002103"/>
            <a:chExt cx="1788944" cy="1209137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294C26F-1989-438C-848C-C3E5A2679AFC}"/>
                </a:ext>
              </a:extLst>
            </p:cNvPr>
            <p:cNvSpPr/>
            <p:nvPr/>
          </p:nvSpPr>
          <p:spPr>
            <a:xfrm>
              <a:off x="7581239" y="1002103"/>
              <a:ext cx="1788944" cy="120913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64840F8-1014-4A74-8397-AFE08A28D649}"/>
                </a:ext>
              </a:extLst>
            </p:cNvPr>
            <p:cNvSpPr/>
            <p:nvPr/>
          </p:nvSpPr>
          <p:spPr>
            <a:xfrm>
              <a:off x="7657441" y="1072997"/>
              <a:ext cx="1630170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Guest Feedback Report 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/admin/report/generate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C78C27C-8504-455A-974D-67B2162F1DB9}"/>
                </a:ext>
              </a:extLst>
            </p:cNvPr>
            <p:cNvSpPr/>
            <p:nvPr/>
          </p:nvSpPr>
          <p:spPr>
            <a:xfrm>
              <a:off x="7657440" y="1444761"/>
              <a:ext cx="1630171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Occupancies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/admin/report/{query}{msg}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5B93571-2D42-4E2E-A3B7-A34E0154DF70}"/>
                </a:ext>
              </a:extLst>
            </p:cNvPr>
            <p:cNvSpPr/>
            <p:nvPr/>
          </p:nvSpPr>
          <p:spPr>
            <a:xfrm>
              <a:off x="7657439" y="1816525"/>
              <a:ext cx="1630171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Vacancies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/admin/report/{query}{msg}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</p:grp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458EF7E-4337-4FD5-B4CF-AF525A7A8744}"/>
              </a:ext>
            </a:extLst>
          </p:cNvPr>
          <p:cNvCxnSpPr>
            <a:stCxn id="19" idx="3"/>
            <a:endCxn id="59" idx="1"/>
          </p:cNvCxnSpPr>
          <p:nvPr/>
        </p:nvCxnSpPr>
        <p:spPr>
          <a:xfrm>
            <a:off x="5924841" y="1276915"/>
            <a:ext cx="1732600" cy="7810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649ECFE-9819-461A-95BD-3847DE31ECA7}"/>
              </a:ext>
            </a:extLst>
          </p:cNvPr>
          <p:cNvCxnSpPr>
            <a:cxnSpLocks/>
            <a:stCxn id="19" idx="3"/>
            <a:endCxn id="60" idx="1"/>
          </p:cNvCxnSpPr>
          <p:nvPr/>
        </p:nvCxnSpPr>
        <p:spPr>
          <a:xfrm>
            <a:off x="5924841" y="1276915"/>
            <a:ext cx="1732599" cy="11528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Cylinder 85">
            <a:extLst>
              <a:ext uri="{FF2B5EF4-FFF2-40B4-BE49-F238E27FC236}">
                <a16:creationId xmlns:a16="http://schemas.microsoft.com/office/drawing/2014/main" id="{02C244C3-C8A9-43C3-9F62-616669CFA14B}"/>
              </a:ext>
            </a:extLst>
          </p:cNvPr>
          <p:cNvSpPr/>
          <p:nvPr/>
        </p:nvSpPr>
        <p:spPr>
          <a:xfrm>
            <a:off x="252316" y="2692278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Users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B96192-EB7C-40D9-9667-0CAD83A84AD4}"/>
              </a:ext>
            </a:extLst>
          </p:cNvPr>
          <p:cNvSpPr/>
          <p:nvPr/>
        </p:nvSpPr>
        <p:spPr>
          <a:xfrm>
            <a:off x="9992544" y="764566"/>
            <a:ext cx="171437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(POST /admin/check-in/{id}/refresh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08" name="Graphic 107" descr="Lock">
            <a:extLst>
              <a:ext uri="{FF2B5EF4-FFF2-40B4-BE49-F238E27FC236}">
                <a16:creationId xmlns:a16="http://schemas.microsoft.com/office/drawing/2014/main" id="{21AE184C-35E1-4750-A828-249E3E949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3795" y="798752"/>
            <a:ext cx="152400" cy="152400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C00FF75-46A2-449C-9AC9-49F270E479F7}"/>
              </a:ext>
            </a:extLst>
          </p:cNvPr>
          <p:cNvGrpSpPr/>
          <p:nvPr/>
        </p:nvGrpSpPr>
        <p:grpSpPr>
          <a:xfrm>
            <a:off x="9992545" y="1167203"/>
            <a:ext cx="1714376" cy="318924"/>
            <a:chOff x="9319383" y="4532012"/>
            <a:chExt cx="1714376" cy="31892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A21E7F8-F52A-4C78-B079-8BE4AFE40705}"/>
                </a:ext>
              </a:extLst>
            </p:cNvPr>
            <p:cNvSpPr/>
            <p:nvPr/>
          </p:nvSpPr>
          <p:spPr>
            <a:xfrm>
              <a:off x="9319383" y="4532012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Delete 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/admin/check-in/{id}/minus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09" name="Graphic 108" descr="Lock">
              <a:extLst>
                <a:ext uri="{FF2B5EF4-FFF2-40B4-BE49-F238E27FC236}">
                  <a16:creationId xmlns:a16="http://schemas.microsoft.com/office/drawing/2014/main" id="{15162385-F98D-4470-A21C-F5827F3AA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37421" y="4539074"/>
              <a:ext cx="152400" cy="152400"/>
            </a:xfrm>
            <a:prstGeom prst="rect">
              <a:avLst/>
            </a:prstGeom>
          </p:spPr>
        </p:pic>
        <p:pic>
          <p:nvPicPr>
            <p:cNvPr id="111" name="Graphic 110" descr="Key">
              <a:extLst>
                <a:ext uri="{FF2B5EF4-FFF2-40B4-BE49-F238E27FC236}">
                  <a16:creationId xmlns:a16="http://schemas.microsoft.com/office/drawing/2014/main" id="{DC03482A-4BAA-49CF-8D10-C8ADF69A8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0731" y="4542884"/>
              <a:ext cx="181516" cy="181516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DE38839-26B5-4501-86F7-48A87346CBAF}"/>
              </a:ext>
            </a:extLst>
          </p:cNvPr>
          <p:cNvGrpSpPr/>
          <p:nvPr/>
        </p:nvGrpSpPr>
        <p:grpSpPr>
          <a:xfrm>
            <a:off x="9992545" y="375946"/>
            <a:ext cx="1714376" cy="318924"/>
            <a:chOff x="9319383" y="3740755"/>
            <a:chExt cx="1714376" cy="31892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237E889-DCFF-4C2A-8E89-F7D7BAC9586B}"/>
                </a:ext>
              </a:extLst>
            </p:cNvPr>
            <p:cNvSpPr/>
            <p:nvPr/>
          </p:nvSpPr>
          <p:spPr>
            <a:xfrm>
              <a:off x="9319383" y="3740755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Create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/admin/check-in/plus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14" name="Graphic 113" descr="Key">
              <a:extLst>
                <a:ext uri="{FF2B5EF4-FFF2-40B4-BE49-F238E27FC236}">
                  <a16:creationId xmlns:a16="http://schemas.microsoft.com/office/drawing/2014/main" id="{D55D9960-D172-4BE3-94D1-BBF3BCFF2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85446" y="3753549"/>
              <a:ext cx="181516" cy="181516"/>
            </a:xfrm>
            <a:prstGeom prst="rect">
              <a:avLst/>
            </a:prstGeom>
          </p:spPr>
        </p:pic>
      </p:grpSp>
      <p:sp>
        <p:nvSpPr>
          <p:cNvPr id="132" name="Diamond 131">
            <a:extLst>
              <a:ext uri="{FF2B5EF4-FFF2-40B4-BE49-F238E27FC236}">
                <a16:creationId xmlns:a16="http://schemas.microsoft.com/office/drawing/2014/main" id="{E373C9BB-68A5-4523-9D8F-F37D34C24326}"/>
              </a:ext>
            </a:extLst>
          </p:cNvPr>
          <p:cNvSpPr/>
          <p:nvPr/>
        </p:nvSpPr>
        <p:spPr>
          <a:xfrm>
            <a:off x="4683678" y="2754338"/>
            <a:ext cx="914400" cy="914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34" name="Graphic 133" descr="Skull">
            <a:extLst>
              <a:ext uri="{FF2B5EF4-FFF2-40B4-BE49-F238E27FC236}">
                <a16:creationId xmlns:a16="http://schemas.microsoft.com/office/drawing/2014/main" id="{0E4A109D-41EC-43BC-8012-5C9787371D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641" y="3009119"/>
            <a:ext cx="355600" cy="355600"/>
          </a:xfrm>
          <a:prstGeom prst="rect">
            <a:avLst/>
          </a:prstGeom>
        </p:spPr>
      </p:pic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A462DD5-5D3C-4608-BE23-AD3EF2499166}"/>
              </a:ext>
            </a:extLst>
          </p:cNvPr>
          <p:cNvCxnSpPr/>
          <p:nvPr/>
        </p:nvCxnSpPr>
        <p:spPr>
          <a:xfrm flipV="1">
            <a:off x="7150100" y="138816"/>
            <a:ext cx="0" cy="262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56BB50AF-2466-4E93-9298-35DECA62B3D2}"/>
              </a:ext>
            </a:extLst>
          </p:cNvPr>
          <p:cNvCxnSpPr>
            <a:endCxn id="147" idx="0"/>
          </p:cNvCxnSpPr>
          <p:nvPr/>
        </p:nvCxnSpPr>
        <p:spPr>
          <a:xfrm>
            <a:off x="7150100" y="138816"/>
            <a:ext cx="3694859" cy="1863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E252A5CE-9416-400B-A4E9-400D439F0FE9}"/>
              </a:ext>
            </a:extLst>
          </p:cNvPr>
          <p:cNvCxnSpPr>
            <a:cxnSpLocks/>
            <a:stCxn id="106" idx="2"/>
            <a:endCxn id="132" idx="3"/>
          </p:cNvCxnSpPr>
          <p:nvPr/>
        </p:nvCxnSpPr>
        <p:spPr>
          <a:xfrm rot="5400000">
            <a:off x="7361201" y="-276995"/>
            <a:ext cx="1725411" cy="5251655"/>
          </a:xfrm>
          <a:prstGeom prst="bentConnector2">
            <a:avLst/>
          </a:prstGeom>
          <a:ln>
            <a:solidFill>
              <a:srgbClr val="F6121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13B9618-B6C8-4171-A68E-7B3CF395416B}"/>
              </a:ext>
            </a:extLst>
          </p:cNvPr>
          <p:cNvSpPr/>
          <p:nvPr/>
        </p:nvSpPr>
        <p:spPr>
          <a:xfrm>
            <a:off x="5718410" y="2886008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Request Filters</a:t>
            </a:r>
          </a:p>
        </p:txBody>
      </p:sp>
      <p:sp>
        <p:nvSpPr>
          <p:cNvPr id="169" name="Cylinder 168">
            <a:extLst>
              <a:ext uri="{FF2B5EF4-FFF2-40B4-BE49-F238E27FC236}">
                <a16:creationId xmlns:a16="http://schemas.microsoft.com/office/drawing/2014/main" id="{C1226365-FED1-45DA-A25B-1AF4B54CAE51}"/>
              </a:ext>
            </a:extLst>
          </p:cNvPr>
          <p:cNvSpPr/>
          <p:nvPr/>
        </p:nvSpPr>
        <p:spPr>
          <a:xfrm>
            <a:off x="253999" y="3819560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5AAD2A1-BB69-479B-9ECE-F9EF8CB849D7}"/>
              </a:ext>
            </a:extLst>
          </p:cNvPr>
          <p:cNvGrpSpPr/>
          <p:nvPr/>
        </p:nvGrpSpPr>
        <p:grpSpPr>
          <a:xfrm>
            <a:off x="8327867" y="3876859"/>
            <a:ext cx="3445706" cy="1873084"/>
            <a:chOff x="8568494" y="3876859"/>
            <a:chExt cx="3445706" cy="1873084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3F669DB-9DCF-46DE-B817-5AD2437205DD}"/>
                </a:ext>
              </a:extLst>
            </p:cNvPr>
            <p:cNvSpPr/>
            <p:nvPr/>
          </p:nvSpPr>
          <p:spPr>
            <a:xfrm>
              <a:off x="8568497" y="3876859"/>
              <a:ext cx="3445703" cy="6062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Verify Guest (With phone) 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Status != checked out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/admin/hostel/checkout/{phone})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3BFEF60-5FF7-460D-B648-9308A45D84B6}"/>
                </a:ext>
              </a:extLst>
            </p:cNvPr>
            <p:cNvSpPr/>
            <p:nvPr/>
          </p:nvSpPr>
          <p:spPr>
            <a:xfrm>
              <a:off x="8568494" y="4563468"/>
              <a:ext cx="3445703" cy="5070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Calculate Stayed, Discount, VAT &amp; Tax, Total Bill  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333A662-0E51-4864-966F-BF96B5613597}"/>
                </a:ext>
              </a:extLst>
            </p:cNvPr>
            <p:cNvSpPr/>
            <p:nvPr/>
          </p:nvSpPr>
          <p:spPr>
            <a:xfrm>
              <a:off x="8568495" y="5150919"/>
              <a:ext cx="3445703" cy="5990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Confirm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/admin/hostel/checkout/{phone})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 </a:t>
              </a:r>
            </a:p>
          </p:txBody>
        </p:sp>
      </p:grp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9236E1FC-6E6A-46A6-9013-21918B74EEDA}"/>
              </a:ext>
            </a:extLst>
          </p:cNvPr>
          <p:cNvCxnSpPr>
            <a:cxnSpLocks/>
            <a:stCxn id="132" idx="0"/>
          </p:cNvCxnSpPr>
          <p:nvPr/>
        </p:nvCxnSpPr>
        <p:spPr>
          <a:xfrm rot="16200000" flipH="1" flipV="1">
            <a:off x="3070339" y="850714"/>
            <a:ext cx="166915" cy="3974162"/>
          </a:xfrm>
          <a:prstGeom prst="bentConnector4">
            <a:avLst>
              <a:gd name="adj1" fmla="val -136956"/>
              <a:gd name="adj2" fmla="val 55752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0C9E733-A271-41CD-8066-C0C1707A4BB5}"/>
              </a:ext>
            </a:extLst>
          </p:cNvPr>
          <p:cNvSpPr/>
          <p:nvPr/>
        </p:nvSpPr>
        <p:spPr>
          <a:xfrm>
            <a:off x="2833466" y="3935005"/>
            <a:ext cx="2410647" cy="9851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Transection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Create Checkout(DBT: checkout)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Users status (DBT: checkout)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Store Feedback(DBT: feedback)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</a:t>
            </a:r>
            <a:r>
              <a:rPr lang="en-US" sz="1000" dirty="0" err="1">
                <a:latin typeface="Inter 18pt" panose="02000503000000020004" pitchFamily="2" charset="0"/>
                <a:ea typeface="Inter 18pt" panose="02000503000000020004" pitchFamily="2" charset="0"/>
              </a:rPr>
              <a:t>Sms</a:t>
            </a:r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 Status (DBT: feedback)</a:t>
            </a:r>
          </a:p>
          <a:p>
            <a:pPr algn="ctr"/>
            <a:r>
              <a:rPr lang="en-US" sz="1000" b="1" dirty="0">
                <a:solidFill>
                  <a:srgbClr val="C0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Roll back if fail</a:t>
            </a:r>
          </a:p>
        </p:txBody>
      </p: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BF22DAD2-9CEE-4A7D-8D64-D24D4729B20C}"/>
              </a:ext>
            </a:extLst>
          </p:cNvPr>
          <p:cNvCxnSpPr>
            <a:cxnSpLocks/>
            <a:stCxn id="196" idx="1"/>
            <a:endCxn id="169" idx="3"/>
          </p:cNvCxnSpPr>
          <p:nvPr/>
        </p:nvCxnSpPr>
        <p:spPr>
          <a:xfrm rot="10800000" flipV="1">
            <a:off x="711200" y="4427584"/>
            <a:ext cx="2122267" cy="206337"/>
          </a:xfrm>
          <a:prstGeom prst="bentConnector4">
            <a:avLst>
              <a:gd name="adj1" fmla="val 39228"/>
              <a:gd name="adj2" fmla="val 34951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2257CE29-C29B-418D-B4C0-81F9D69A5FDF}"/>
              </a:ext>
            </a:extLst>
          </p:cNvPr>
          <p:cNvCxnSpPr>
            <a:cxnSpLocks/>
            <a:stCxn id="132" idx="1"/>
            <a:endCxn id="196" idx="3"/>
          </p:cNvCxnSpPr>
          <p:nvPr/>
        </p:nvCxnSpPr>
        <p:spPr>
          <a:xfrm rot="10800000" flipH="1" flipV="1">
            <a:off x="4683677" y="3211537"/>
            <a:ext cx="560435" cy="1216047"/>
          </a:xfrm>
          <a:prstGeom prst="bentConnector5">
            <a:avLst>
              <a:gd name="adj1" fmla="val -40790"/>
              <a:gd name="adj2" fmla="val 44368"/>
              <a:gd name="adj3" fmla="val 140790"/>
            </a:avLst>
          </a:prstGeom>
          <a:ln>
            <a:solidFill>
              <a:srgbClr val="F612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4DA05B2-2E82-4FF6-883C-A5092D783884}"/>
              </a:ext>
            </a:extLst>
          </p:cNvPr>
          <p:cNvSpPr/>
          <p:nvPr/>
        </p:nvSpPr>
        <p:spPr>
          <a:xfrm>
            <a:off x="3074393" y="3101474"/>
            <a:ext cx="1225257" cy="526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Update Status: 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Checked out</a:t>
            </a:r>
          </a:p>
        </p:txBody>
      </p: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FFF3204A-1EFF-4279-8D80-BFD1B566B177}"/>
              </a:ext>
            </a:extLst>
          </p:cNvPr>
          <p:cNvCxnSpPr>
            <a:stCxn id="35" idx="3"/>
          </p:cNvCxnSpPr>
          <p:nvPr/>
        </p:nvCxnSpPr>
        <p:spPr>
          <a:xfrm>
            <a:off x="9319383" y="571006"/>
            <a:ext cx="408817" cy="32037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1085ACE-D6CD-4094-88EB-42D88A98ACF8}"/>
              </a:ext>
            </a:extLst>
          </p:cNvPr>
          <p:cNvCxnSpPr>
            <a:cxnSpLocks/>
          </p:cNvCxnSpPr>
          <p:nvPr/>
        </p:nvCxnSpPr>
        <p:spPr>
          <a:xfrm flipV="1">
            <a:off x="3687021" y="3641157"/>
            <a:ext cx="0" cy="2671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DA117931-EBE0-47C5-A6B0-C5D18BBFA1DC}"/>
              </a:ext>
            </a:extLst>
          </p:cNvPr>
          <p:cNvCxnSpPr>
            <a:stCxn id="213" idx="1"/>
            <a:endCxn id="86" idx="4"/>
          </p:cNvCxnSpPr>
          <p:nvPr/>
        </p:nvCxnSpPr>
        <p:spPr>
          <a:xfrm rot="10800000">
            <a:off x="1166717" y="3099459"/>
            <a:ext cx="1907677" cy="26526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10D57548-5337-4324-9A0B-1A7F01AB9B66}"/>
              </a:ext>
            </a:extLst>
          </p:cNvPr>
          <p:cNvCxnSpPr>
            <a:cxnSpLocks/>
          </p:cNvCxnSpPr>
          <p:nvPr/>
        </p:nvCxnSpPr>
        <p:spPr>
          <a:xfrm>
            <a:off x="2614031" y="3848959"/>
            <a:ext cx="5721148" cy="393486"/>
          </a:xfrm>
          <a:prstGeom prst="bentConnector3">
            <a:avLst>
              <a:gd name="adj1" fmla="val 524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8E7FAA1E-60A5-47BB-AC3A-ED38A1E7F148}"/>
              </a:ext>
            </a:extLst>
          </p:cNvPr>
          <p:cNvCxnSpPr>
            <a:cxnSpLocks/>
          </p:cNvCxnSpPr>
          <p:nvPr/>
        </p:nvCxnSpPr>
        <p:spPr>
          <a:xfrm rot="10800000">
            <a:off x="1148486" y="3293190"/>
            <a:ext cx="1465547" cy="5557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056FEB1F-4A81-469C-AE2F-B82BE41BABC6}"/>
              </a:ext>
            </a:extLst>
          </p:cNvPr>
          <p:cNvSpPr txBox="1"/>
          <p:nvPr/>
        </p:nvSpPr>
        <p:spPr>
          <a:xfrm>
            <a:off x="2581901" y="514100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Admin</a:t>
            </a:r>
          </a:p>
        </p:txBody>
      </p:sp>
      <p:pic>
        <p:nvPicPr>
          <p:cNvPr id="259" name="Graphic 258" descr="Devil face with no fill">
            <a:extLst>
              <a:ext uri="{FF2B5EF4-FFF2-40B4-BE49-F238E27FC236}">
                <a16:creationId xmlns:a16="http://schemas.microsoft.com/office/drawing/2014/main" id="{6D28F8E5-6C7F-4BC8-8150-19E486EAAB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6673" y="5318962"/>
            <a:ext cx="288121" cy="288121"/>
          </a:xfrm>
          <a:prstGeom prst="rect">
            <a:avLst/>
          </a:prstGeom>
        </p:spPr>
      </p:pic>
      <p:pic>
        <p:nvPicPr>
          <p:cNvPr id="260" name="Graphic 259" descr="Devil face with no fill">
            <a:extLst>
              <a:ext uri="{FF2B5EF4-FFF2-40B4-BE49-F238E27FC236}">
                <a16:creationId xmlns:a16="http://schemas.microsoft.com/office/drawing/2014/main" id="{F2455ACB-1DC0-4F6C-965A-AE43DFD2EE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04956" y="374749"/>
            <a:ext cx="288121" cy="288121"/>
          </a:xfrm>
          <a:prstGeom prst="rect">
            <a:avLst/>
          </a:prstGeom>
        </p:spPr>
      </p:pic>
      <p:pic>
        <p:nvPicPr>
          <p:cNvPr id="261" name="Graphic 260" descr="Devil face with no fill">
            <a:extLst>
              <a:ext uri="{FF2B5EF4-FFF2-40B4-BE49-F238E27FC236}">
                <a16:creationId xmlns:a16="http://schemas.microsoft.com/office/drawing/2014/main" id="{7E3DB4CA-91E2-4A85-96A1-B90E7D330C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19899" y="794391"/>
            <a:ext cx="288121" cy="288121"/>
          </a:xfrm>
          <a:prstGeom prst="rect">
            <a:avLst/>
          </a:prstGeom>
        </p:spPr>
      </p:pic>
      <p:pic>
        <p:nvPicPr>
          <p:cNvPr id="262" name="Graphic 261" descr="Devil face with no fill">
            <a:extLst>
              <a:ext uri="{FF2B5EF4-FFF2-40B4-BE49-F238E27FC236}">
                <a16:creationId xmlns:a16="http://schemas.microsoft.com/office/drawing/2014/main" id="{CA9072D2-4C3A-4E97-91AC-FB826C5906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32522" y="1182604"/>
            <a:ext cx="288121" cy="288121"/>
          </a:xfrm>
          <a:prstGeom prst="rect">
            <a:avLst/>
          </a:prstGeom>
        </p:spPr>
      </p:pic>
      <p:sp>
        <p:nvSpPr>
          <p:cNvPr id="271" name="Rectangle 270">
            <a:extLst>
              <a:ext uri="{FF2B5EF4-FFF2-40B4-BE49-F238E27FC236}">
                <a16:creationId xmlns:a16="http://schemas.microsoft.com/office/drawing/2014/main" id="{A2DD468F-6241-4115-AA97-B128C0EFCBB0}"/>
              </a:ext>
            </a:extLst>
          </p:cNvPr>
          <p:cNvSpPr/>
          <p:nvPr/>
        </p:nvSpPr>
        <p:spPr>
          <a:xfrm>
            <a:off x="6385485" y="5269224"/>
            <a:ext cx="1241113" cy="638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ato" panose="020F0502020204030203" pitchFamily="34" charset="0"/>
              </a:rPr>
              <a:t>Show feedback form with filled data</a:t>
            </a: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6C2433EF-688C-4190-93DC-1771F6454BE6}"/>
              </a:ext>
            </a:extLst>
          </p:cNvPr>
          <p:cNvCxnSpPr/>
          <p:nvPr/>
        </p:nvCxnSpPr>
        <p:spPr>
          <a:xfrm flipH="1">
            <a:off x="7657439" y="5522221"/>
            <a:ext cx="670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F195A1F-8E22-4B40-8D71-499D317C1541}"/>
              </a:ext>
            </a:extLst>
          </p:cNvPr>
          <p:cNvCxnSpPr>
            <a:stCxn id="271" idx="2"/>
            <a:endCxn id="36" idx="0"/>
          </p:cNvCxnSpPr>
          <p:nvPr/>
        </p:nvCxnSpPr>
        <p:spPr>
          <a:xfrm flipH="1">
            <a:off x="7006041" y="5907398"/>
            <a:ext cx="1" cy="193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Connector: Elbow 292">
            <a:extLst>
              <a:ext uri="{FF2B5EF4-FFF2-40B4-BE49-F238E27FC236}">
                <a16:creationId xmlns:a16="http://schemas.microsoft.com/office/drawing/2014/main" id="{C2D3B3EF-4A8F-46F6-8FEB-3A82BA6082C0}"/>
              </a:ext>
            </a:extLst>
          </p:cNvPr>
          <p:cNvCxnSpPr>
            <a:cxnSpLocks/>
            <a:endCxn id="14" idx="4"/>
          </p:cNvCxnSpPr>
          <p:nvPr/>
        </p:nvCxnSpPr>
        <p:spPr>
          <a:xfrm rot="10800000" flipV="1">
            <a:off x="1272765" y="4946841"/>
            <a:ext cx="2445100" cy="805880"/>
          </a:xfrm>
          <a:prstGeom prst="bentConnector3">
            <a:avLst>
              <a:gd name="adj1" fmla="val 137"/>
            </a:avLst>
          </a:prstGeom>
          <a:ln>
            <a:solidFill>
              <a:srgbClr val="00B050"/>
            </a:solidFill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Connector: Elbow 298">
            <a:extLst>
              <a:ext uri="{FF2B5EF4-FFF2-40B4-BE49-F238E27FC236}">
                <a16:creationId xmlns:a16="http://schemas.microsoft.com/office/drawing/2014/main" id="{29013D9B-B5AC-4213-A4CD-36C7A8029465}"/>
              </a:ext>
            </a:extLst>
          </p:cNvPr>
          <p:cNvCxnSpPr>
            <a:cxnSpLocks/>
          </p:cNvCxnSpPr>
          <p:nvPr/>
        </p:nvCxnSpPr>
        <p:spPr>
          <a:xfrm rot="10800000">
            <a:off x="5264791" y="4879867"/>
            <a:ext cx="1434515" cy="14082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99F6A4DC-151C-4583-94E9-E3E608A49DCE}"/>
              </a:ext>
            </a:extLst>
          </p:cNvPr>
          <p:cNvSpPr txBox="1"/>
          <p:nvPr/>
        </p:nvSpPr>
        <p:spPr>
          <a:xfrm>
            <a:off x="6791140" y="637746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ato" panose="020F0502020204030203" pitchFamily="34" charset="0"/>
              </a:rPr>
              <a:t>sync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FF73216B-53ED-4D4F-B9C8-086E0FC91AF6}"/>
              </a:ext>
            </a:extLst>
          </p:cNvPr>
          <p:cNvSpPr/>
          <p:nvPr/>
        </p:nvSpPr>
        <p:spPr>
          <a:xfrm>
            <a:off x="6503160" y="785155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Seat Management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(/admin/hostel/seats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5432AAC-E283-4112-B439-5885E848CDC3}"/>
              </a:ext>
            </a:extLst>
          </p:cNvPr>
          <p:cNvSpPr/>
          <p:nvPr/>
        </p:nvSpPr>
        <p:spPr>
          <a:xfrm>
            <a:off x="7954133" y="782196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038A06E-073B-4BF9-9B3B-1EBF08FC81DB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5930535" y="755169"/>
            <a:ext cx="490736" cy="1669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59EA7C-9880-4628-9BE6-8922C180D561}"/>
              </a:ext>
            </a:extLst>
          </p:cNvPr>
          <p:cNvCxnSpPr/>
          <p:nvPr/>
        </p:nvCxnSpPr>
        <p:spPr>
          <a:xfrm>
            <a:off x="11938000" y="3876859"/>
            <a:ext cx="0" cy="1892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31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296640-57A8-4E4D-8CA7-C94107A49CC9}"/>
              </a:ext>
            </a:extLst>
          </p:cNvPr>
          <p:cNvSpPr/>
          <p:nvPr/>
        </p:nvSpPr>
        <p:spPr>
          <a:xfrm>
            <a:off x="6421271" y="347453"/>
            <a:ext cx="2970997" cy="815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4C715C53-FF65-4868-8459-4EC216A3F34C}"/>
              </a:ext>
            </a:extLst>
          </p:cNvPr>
          <p:cNvSpPr/>
          <p:nvPr/>
        </p:nvSpPr>
        <p:spPr>
          <a:xfrm>
            <a:off x="4934241" y="338259"/>
            <a:ext cx="1071202" cy="1164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C492EFC-6D53-44DA-9BB2-E6492B3C12C3}"/>
              </a:ext>
            </a:extLst>
          </p:cNvPr>
          <p:cNvSpPr/>
          <p:nvPr/>
        </p:nvSpPr>
        <p:spPr>
          <a:xfrm>
            <a:off x="8227917" y="3774742"/>
            <a:ext cx="3865160" cy="20811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3E7DDD5-EC12-49FF-8C9B-030CB74C1D8A}"/>
              </a:ext>
            </a:extLst>
          </p:cNvPr>
          <p:cNvSpPr/>
          <p:nvPr/>
        </p:nvSpPr>
        <p:spPr>
          <a:xfrm>
            <a:off x="9916344" y="325146"/>
            <a:ext cx="1857229" cy="1211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1721" y="150559"/>
            <a:ext cx="5313953" cy="25264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400" b="1" dirty="0">
                <a:solidFill>
                  <a:srgbClr val="00B0F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High Level Overview (Updated: 23/02/2026) – v1 Stable</a:t>
            </a:r>
            <a:br>
              <a:rPr lang="en-US" sz="1400" b="1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400" b="1" dirty="0">
              <a:solidFill>
                <a:srgbClr val="00B05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71339BF-84EB-4FAA-9F2C-67677E754C47}"/>
              </a:ext>
            </a:extLst>
          </p:cNvPr>
          <p:cNvSpPr/>
          <p:nvPr/>
        </p:nvSpPr>
        <p:spPr>
          <a:xfrm>
            <a:off x="2619686" y="747622"/>
            <a:ext cx="423080" cy="42308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Predefined Process 3">
            <a:extLst>
              <a:ext uri="{FF2B5EF4-FFF2-40B4-BE49-F238E27FC236}">
                <a16:creationId xmlns:a16="http://schemas.microsoft.com/office/drawing/2014/main" id="{F672EB78-A3B3-40C3-BD87-518C75E823A1}"/>
              </a:ext>
            </a:extLst>
          </p:cNvPr>
          <p:cNvSpPr/>
          <p:nvPr/>
        </p:nvSpPr>
        <p:spPr>
          <a:xfrm>
            <a:off x="3501091" y="734395"/>
            <a:ext cx="914400" cy="423080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Login (/login)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C130BC-5B3A-4294-B8A5-2263105CF140}"/>
              </a:ext>
            </a:extLst>
          </p:cNvPr>
          <p:cNvCxnSpPr/>
          <p:nvPr/>
        </p:nvCxnSpPr>
        <p:spPr>
          <a:xfrm>
            <a:off x="3105815" y="932197"/>
            <a:ext cx="354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AA83C1-BA4A-4F04-A1C9-4383BFB99029}"/>
              </a:ext>
            </a:extLst>
          </p:cNvPr>
          <p:cNvCxnSpPr/>
          <p:nvPr/>
        </p:nvCxnSpPr>
        <p:spPr>
          <a:xfrm>
            <a:off x="4419417" y="920882"/>
            <a:ext cx="464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0B70951-EB1D-4855-A514-BB8ED1C2B162}"/>
              </a:ext>
            </a:extLst>
          </p:cNvPr>
          <p:cNvSpPr/>
          <p:nvPr/>
        </p:nvSpPr>
        <p:spPr>
          <a:xfrm>
            <a:off x="5017405" y="407871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Home </a:t>
            </a:r>
            <a:r>
              <a:rPr lang="en-US" sz="8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(/) 308</a:t>
            </a:r>
            <a:endParaRPr lang="en-US" sz="1000" dirty="0">
              <a:solidFill>
                <a:srgbClr val="FF000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26E7933-718C-4C2B-A9A7-81ADEDE8CF4C}"/>
              </a:ext>
            </a:extLst>
          </p:cNvPr>
          <p:cNvSpPr/>
          <p:nvPr/>
        </p:nvSpPr>
        <p:spPr>
          <a:xfrm>
            <a:off x="358365" y="5404703"/>
            <a:ext cx="914400" cy="696036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16D01C-3EB6-44E5-AFED-33BFE2804968}"/>
              </a:ext>
            </a:extLst>
          </p:cNvPr>
          <p:cNvSpPr/>
          <p:nvPr/>
        </p:nvSpPr>
        <p:spPr>
          <a:xfrm>
            <a:off x="5016135" y="762662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Hostel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</a:t>
            </a:r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A3B91D-CC08-49BF-ABA0-CEB4DE932643}"/>
              </a:ext>
            </a:extLst>
          </p:cNvPr>
          <p:cNvSpPr/>
          <p:nvPr/>
        </p:nvSpPr>
        <p:spPr>
          <a:xfrm>
            <a:off x="5010441" y="1117453"/>
            <a:ext cx="914400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Report </a:t>
            </a:r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(/admin/report)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689D72-92E4-453C-8D40-A0056FB4C088}"/>
              </a:ext>
            </a:extLst>
          </p:cNvPr>
          <p:cNvSpPr/>
          <p:nvPr/>
        </p:nvSpPr>
        <p:spPr>
          <a:xfrm>
            <a:off x="6503160" y="403108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(/admin/hostel/check-in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23CFAA-01CB-4178-91A6-68CB3890EDE0}"/>
              </a:ext>
            </a:extLst>
          </p:cNvPr>
          <p:cNvSpPr/>
          <p:nvPr/>
        </p:nvSpPr>
        <p:spPr>
          <a:xfrm>
            <a:off x="7944610" y="411544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(/admin/hostel/checkout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BD70B4-AB21-4771-A435-41ABE5BF4D1A}"/>
              </a:ext>
            </a:extLst>
          </p:cNvPr>
          <p:cNvSpPr/>
          <p:nvPr/>
        </p:nvSpPr>
        <p:spPr>
          <a:xfrm>
            <a:off x="6716692" y="6100739"/>
            <a:ext cx="57869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SMS</a:t>
            </a: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8621F85-8E2E-440F-A109-CFC1D9F524F6}"/>
              </a:ext>
            </a:extLst>
          </p:cNvPr>
          <p:cNvGrpSpPr/>
          <p:nvPr/>
        </p:nvGrpSpPr>
        <p:grpSpPr>
          <a:xfrm>
            <a:off x="7581239" y="1827603"/>
            <a:ext cx="1788944" cy="1209137"/>
            <a:chOff x="7581239" y="1002103"/>
            <a:chExt cx="1788944" cy="1209137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B294C26F-1989-438C-848C-C3E5A2679AFC}"/>
                </a:ext>
              </a:extLst>
            </p:cNvPr>
            <p:cNvSpPr/>
            <p:nvPr/>
          </p:nvSpPr>
          <p:spPr>
            <a:xfrm>
              <a:off x="7581239" y="1002103"/>
              <a:ext cx="1788944" cy="120913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64840F8-1014-4A74-8397-AFE08A28D649}"/>
                </a:ext>
              </a:extLst>
            </p:cNvPr>
            <p:cNvSpPr/>
            <p:nvPr/>
          </p:nvSpPr>
          <p:spPr>
            <a:xfrm>
              <a:off x="7657441" y="1072997"/>
              <a:ext cx="1630170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Guest Feedback Report 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/admin/report/generate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C78C27C-8504-455A-974D-67B2162F1DB9}"/>
                </a:ext>
              </a:extLst>
            </p:cNvPr>
            <p:cNvSpPr/>
            <p:nvPr/>
          </p:nvSpPr>
          <p:spPr>
            <a:xfrm>
              <a:off x="7657440" y="1444761"/>
              <a:ext cx="1630171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Occupancies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/admin/report/{query}{msg}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5B93571-2D42-4E2E-A3B7-A34E0154DF70}"/>
                </a:ext>
              </a:extLst>
            </p:cNvPr>
            <p:cNvSpPr/>
            <p:nvPr/>
          </p:nvSpPr>
          <p:spPr>
            <a:xfrm>
              <a:off x="7657439" y="1816525"/>
              <a:ext cx="1630171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Vacancies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/admin/report/{query}{msg}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</p:grp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458EF7E-4337-4FD5-B4CF-AF525A7A8744}"/>
              </a:ext>
            </a:extLst>
          </p:cNvPr>
          <p:cNvCxnSpPr>
            <a:stCxn id="19" idx="3"/>
            <a:endCxn id="59" idx="1"/>
          </p:cNvCxnSpPr>
          <p:nvPr/>
        </p:nvCxnSpPr>
        <p:spPr>
          <a:xfrm>
            <a:off x="5924841" y="1276915"/>
            <a:ext cx="1732600" cy="7810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649ECFE-9819-461A-95BD-3847DE31ECA7}"/>
              </a:ext>
            </a:extLst>
          </p:cNvPr>
          <p:cNvCxnSpPr>
            <a:cxnSpLocks/>
            <a:stCxn id="19" idx="3"/>
            <a:endCxn id="60" idx="1"/>
          </p:cNvCxnSpPr>
          <p:nvPr/>
        </p:nvCxnSpPr>
        <p:spPr>
          <a:xfrm>
            <a:off x="5924841" y="1276915"/>
            <a:ext cx="1732599" cy="11528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Cylinder 85">
            <a:extLst>
              <a:ext uri="{FF2B5EF4-FFF2-40B4-BE49-F238E27FC236}">
                <a16:creationId xmlns:a16="http://schemas.microsoft.com/office/drawing/2014/main" id="{02C244C3-C8A9-43C3-9F62-616669CFA14B}"/>
              </a:ext>
            </a:extLst>
          </p:cNvPr>
          <p:cNvSpPr/>
          <p:nvPr/>
        </p:nvSpPr>
        <p:spPr>
          <a:xfrm>
            <a:off x="252316" y="2692278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guest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CB96192-EB7C-40D9-9667-0CAD83A84AD4}"/>
              </a:ext>
            </a:extLst>
          </p:cNvPr>
          <p:cNvSpPr/>
          <p:nvPr/>
        </p:nvSpPr>
        <p:spPr>
          <a:xfrm>
            <a:off x="9992544" y="764566"/>
            <a:ext cx="1714377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(POST /admin/check-in/{id}/refresh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08" name="Graphic 107" descr="Lock">
            <a:extLst>
              <a:ext uri="{FF2B5EF4-FFF2-40B4-BE49-F238E27FC236}">
                <a16:creationId xmlns:a16="http://schemas.microsoft.com/office/drawing/2014/main" id="{21AE184C-35E1-4750-A828-249E3E949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3795" y="798752"/>
            <a:ext cx="152400" cy="152400"/>
          </a:xfrm>
          <a:prstGeom prst="rect">
            <a:avLst/>
          </a:prstGeom>
        </p:spPr>
      </p:pic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C00FF75-46A2-449C-9AC9-49F270E479F7}"/>
              </a:ext>
            </a:extLst>
          </p:cNvPr>
          <p:cNvGrpSpPr/>
          <p:nvPr/>
        </p:nvGrpSpPr>
        <p:grpSpPr>
          <a:xfrm>
            <a:off x="9992545" y="1167203"/>
            <a:ext cx="1714376" cy="318924"/>
            <a:chOff x="9319383" y="4532012"/>
            <a:chExt cx="1714376" cy="31892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A21E7F8-F52A-4C78-B079-8BE4AFE40705}"/>
                </a:ext>
              </a:extLst>
            </p:cNvPr>
            <p:cNvSpPr/>
            <p:nvPr/>
          </p:nvSpPr>
          <p:spPr>
            <a:xfrm>
              <a:off x="9319383" y="4532012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Delete 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/admin/check-in/{id}/minus</a:t>
              </a:r>
              <a:r>
                <a:rPr lang="en-US" sz="900" dirty="0">
                  <a:latin typeface="Inter 18pt" panose="02000503000000020004" pitchFamily="2" charset="0"/>
                  <a:ea typeface="Inter 18pt" panose="02000503000000020004" pitchFamily="2" charset="0"/>
                </a:rPr>
                <a:t>)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09" name="Graphic 108" descr="Lock">
              <a:extLst>
                <a:ext uri="{FF2B5EF4-FFF2-40B4-BE49-F238E27FC236}">
                  <a16:creationId xmlns:a16="http://schemas.microsoft.com/office/drawing/2014/main" id="{15162385-F98D-4470-A21C-F5827F3AA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37421" y="4539074"/>
              <a:ext cx="152400" cy="152400"/>
            </a:xfrm>
            <a:prstGeom prst="rect">
              <a:avLst/>
            </a:prstGeom>
          </p:spPr>
        </p:pic>
        <p:pic>
          <p:nvPicPr>
            <p:cNvPr id="111" name="Graphic 110" descr="Key">
              <a:extLst>
                <a:ext uri="{FF2B5EF4-FFF2-40B4-BE49-F238E27FC236}">
                  <a16:creationId xmlns:a16="http://schemas.microsoft.com/office/drawing/2014/main" id="{DC03482A-4BAA-49CF-8D10-C8ADF69A8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0731" y="4542884"/>
              <a:ext cx="181516" cy="181516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DE38839-26B5-4501-86F7-48A87346CBAF}"/>
              </a:ext>
            </a:extLst>
          </p:cNvPr>
          <p:cNvGrpSpPr/>
          <p:nvPr/>
        </p:nvGrpSpPr>
        <p:grpSpPr>
          <a:xfrm>
            <a:off x="9992545" y="375946"/>
            <a:ext cx="1714376" cy="318924"/>
            <a:chOff x="9319383" y="3740755"/>
            <a:chExt cx="1714376" cy="31892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237E889-DCFF-4C2A-8E89-F7D7BAC9586B}"/>
                </a:ext>
              </a:extLst>
            </p:cNvPr>
            <p:cNvSpPr/>
            <p:nvPr/>
          </p:nvSpPr>
          <p:spPr>
            <a:xfrm>
              <a:off x="9319383" y="3740755"/>
              <a:ext cx="1714376" cy="3189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Create</a:t>
              </a:r>
            </a:p>
            <a:p>
              <a:pPr algn="ctr"/>
              <a:r>
                <a:rPr lang="en-US" sz="7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/admin/check-in/plus</a:t>
              </a:r>
              <a:endParaRPr lang="en-US" sz="1000" dirty="0">
                <a:latin typeface="Inter 18pt" panose="02000503000000020004" pitchFamily="2" charset="0"/>
                <a:ea typeface="Inter 18pt" panose="02000503000000020004" pitchFamily="2" charset="0"/>
              </a:endParaRPr>
            </a:p>
          </p:txBody>
        </p:sp>
        <p:pic>
          <p:nvPicPr>
            <p:cNvPr id="114" name="Graphic 113" descr="Key">
              <a:extLst>
                <a:ext uri="{FF2B5EF4-FFF2-40B4-BE49-F238E27FC236}">
                  <a16:creationId xmlns:a16="http://schemas.microsoft.com/office/drawing/2014/main" id="{D55D9960-D172-4BE3-94D1-BBF3BCFF2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85446" y="3753549"/>
              <a:ext cx="181516" cy="181516"/>
            </a:xfrm>
            <a:prstGeom prst="rect">
              <a:avLst/>
            </a:prstGeom>
          </p:spPr>
        </p:pic>
      </p:grpSp>
      <p:sp>
        <p:nvSpPr>
          <p:cNvPr id="132" name="Diamond 131">
            <a:extLst>
              <a:ext uri="{FF2B5EF4-FFF2-40B4-BE49-F238E27FC236}">
                <a16:creationId xmlns:a16="http://schemas.microsoft.com/office/drawing/2014/main" id="{E373C9BB-68A5-4523-9D8F-F37D34C24326}"/>
              </a:ext>
            </a:extLst>
          </p:cNvPr>
          <p:cNvSpPr/>
          <p:nvPr/>
        </p:nvSpPr>
        <p:spPr>
          <a:xfrm>
            <a:off x="4683678" y="2754338"/>
            <a:ext cx="914400" cy="914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34" name="Graphic 133" descr="Skull">
            <a:extLst>
              <a:ext uri="{FF2B5EF4-FFF2-40B4-BE49-F238E27FC236}">
                <a16:creationId xmlns:a16="http://schemas.microsoft.com/office/drawing/2014/main" id="{0E4A109D-41EC-43BC-8012-5C9787371D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641" y="3009119"/>
            <a:ext cx="355600" cy="355600"/>
          </a:xfrm>
          <a:prstGeom prst="rect">
            <a:avLst/>
          </a:prstGeom>
        </p:spPr>
      </p:pic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A462DD5-5D3C-4608-BE23-AD3EF2499166}"/>
              </a:ext>
            </a:extLst>
          </p:cNvPr>
          <p:cNvCxnSpPr/>
          <p:nvPr/>
        </p:nvCxnSpPr>
        <p:spPr>
          <a:xfrm flipV="1">
            <a:off x="7150100" y="138816"/>
            <a:ext cx="0" cy="262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56BB50AF-2466-4E93-9298-35DECA62B3D2}"/>
              </a:ext>
            </a:extLst>
          </p:cNvPr>
          <p:cNvCxnSpPr>
            <a:endCxn id="147" idx="0"/>
          </p:cNvCxnSpPr>
          <p:nvPr/>
        </p:nvCxnSpPr>
        <p:spPr>
          <a:xfrm>
            <a:off x="7150100" y="138816"/>
            <a:ext cx="3694859" cy="1863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E252A5CE-9416-400B-A4E9-400D439F0FE9}"/>
              </a:ext>
            </a:extLst>
          </p:cNvPr>
          <p:cNvCxnSpPr>
            <a:cxnSpLocks/>
            <a:stCxn id="106" idx="2"/>
            <a:endCxn id="132" idx="3"/>
          </p:cNvCxnSpPr>
          <p:nvPr/>
        </p:nvCxnSpPr>
        <p:spPr>
          <a:xfrm rot="5400000">
            <a:off x="7361201" y="-276995"/>
            <a:ext cx="1725411" cy="5251655"/>
          </a:xfrm>
          <a:prstGeom prst="bentConnector2">
            <a:avLst/>
          </a:prstGeom>
          <a:ln>
            <a:solidFill>
              <a:srgbClr val="F6121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13B9618-B6C8-4171-A68E-7B3CF395416B}"/>
              </a:ext>
            </a:extLst>
          </p:cNvPr>
          <p:cNvSpPr/>
          <p:nvPr/>
        </p:nvSpPr>
        <p:spPr>
          <a:xfrm>
            <a:off x="5718410" y="2886008"/>
            <a:ext cx="10727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Request Filters</a:t>
            </a:r>
          </a:p>
        </p:txBody>
      </p:sp>
      <p:sp>
        <p:nvSpPr>
          <p:cNvPr id="169" name="Cylinder 168">
            <a:extLst>
              <a:ext uri="{FF2B5EF4-FFF2-40B4-BE49-F238E27FC236}">
                <a16:creationId xmlns:a16="http://schemas.microsoft.com/office/drawing/2014/main" id="{C1226365-FED1-45DA-A25B-1AF4B54CAE51}"/>
              </a:ext>
            </a:extLst>
          </p:cNvPr>
          <p:cNvSpPr/>
          <p:nvPr/>
        </p:nvSpPr>
        <p:spPr>
          <a:xfrm>
            <a:off x="253999" y="3819560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Checkout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5AAD2A1-BB69-479B-9ECE-F9EF8CB849D7}"/>
              </a:ext>
            </a:extLst>
          </p:cNvPr>
          <p:cNvGrpSpPr/>
          <p:nvPr/>
        </p:nvGrpSpPr>
        <p:grpSpPr>
          <a:xfrm>
            <a:off x="8327867" y="3876859"/>
            <a:ext cx="3445706" cy="1873084"/>
            <a:chOff x="8568494" y="3876859"/>
            <a:chExt cx="3445706" cy="1873084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3F669DB-9DCF-46DE-B817-5AD2437205DD}"/>
                </a:ext>
              </a:extLst>
            </p:cNvPr>
            <p:cNvSpPr/>
            <p:nvPr/>
          </p:nvSpPr>
          <p:spPr>
            <a:xfrm>
              <a:off x="8568497" y="3876859"/>
              <a:ext cx="3445703" cy="6062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Verify Guest (With phone) 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Status != checked out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(GET /admin/hostel/checkout/{phone})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3BFEF60-5FF7-460D-B648-9308A45D84B6}"/>
                </a:ext>
              </a:extLst>
            </p:cNvPr>
            <p:cNvSpPr/>
            <p:nvPr/>
          </p:nvSpPr>
          <p:spPr>
            <a:xfrm>
              <a:off x="8568494" y="4563468"/>
              <a:ext cx="3445703" cy="5070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Calculate Stayed, Discount, VAT &amp; Tax, Total Bill  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333A662-0E51-4864-966F-BF96B5613597}"/>
                </a:ext>
              </a:extLst>
            </p:cNvPr>
            <p:cNvSpPr/>
            <p:nvPr/>
          </p:nvSpPr>
          <p:spPr>
            <a:xfrm>
              <a:off x="8568495" y="5150919"/>
              <a:ext cx="3445703" cy="5990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Confirm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(POST /admin/hostel/checkout/{phone})</a:t>
              </a:r>
            </a:p>
            <a:p>
              <a:pPr algn="ctr"/>
              <a:r>
                <a:rPr lang="en-US" sz="1000" dirty="0">
                  <a:latin typeface="Inter 18pt" panose="02000503000000020004" pitchFamily="2" charset="0"/>
                  <a:ea typeface="Inter 18pt" panose="02000503000000020004" pitchFamily="2" charset="0"/>
                </a:rPr>
                <a:t> </a:t>
              </a:r>
            </a:p>
          </p:txBody>
        </p:sp>
      </p:grp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9236E1FC-6E6A-46A6-9013-21918B74EEDA}"/>
              </a:ext>
            </a:extLst>
          </p:cNvPr>
          <p:cNvCxnSpPr>
            <a:cxnSpLocks/>
            <a:stCxn id="132" idx="0"/>
          </p:cNvCxnSpPr>
          <p:nvPr/>
        </p:nvCxnSpPr>
        <p:spPr>
          <a:xfrm rot="16200000" flipH="1" flipV="1">
            <a:off x="3070339" y="850714"/>
            <a:ext cx="166915" cy="3974162"/>
          </a:xfrm>
          <a:prstGeom prst="bentConnector4">
            <a:avLst>
              <a:gd name="adj1" fmla="val -136956"/>
              <a:gd name="adj2" fmla="val 55752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0C9E733-A271-41CD-8066-C0C1707A4BB5}"/>
              </a:ext>
            </a:extLst>
          </p:cNvPr>
          <p:cNvSpPr/>
          <p:nvPr/>
        </p:nvSpPr>
        <p:spPr>
          <a:xfrm>
            <a:off x="2833466" y="3935005"/>
            <a:ext cx="2410647" cy="9851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Transection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Create Checkout(DBT: checkout)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Users status (DBT: checkout)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Store Feedback(DBT: feedback)</a:t>
            </a:r>
          </a:p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Update </a:t>
            </a:r>
            <a:r>
              <a:rPr lang="en-US" sz="1000" dirty="0" err="1">
                <a:latin typeface="Inter 18pt" panose="02000503000000020004" pitchFamily="2" charset="0"/>
                <a:ea typeface="Inter 18pt" panose="02000503000000020004" pitchFamily="2" charset="0"/>
              </a:rPr>
              <a:t>Sms</a:t>
            </a:r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 Status (DBT: feedback)</a:t>
            </a:r>
          </a:p>
          <a:p>
            <a:pPr algn="ctr"/>
            <a:r>
              <a:rPr lang="en-US" sz="1000" b="1" dirty="0">
                <a:solidFill>
                  <a:srgbClr val="C0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Roll back if fail</a:t>
            </a:r>
          </a:p>
        </p:txBody>
      </p:sp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id="{BF22DAD2-9CEE-4A7D-8D64-D24D4729B20C}"/>
              </a:ext>
            </a:extLst>
          </p:cNvPr>
          <p:cNvCxnSpPr>
            <a:cxnSpLocks/>
            <a:stCxn id="196" idx="1"/>
            <a:endCxn id="169" idx="3"/>
          </p:cNvCxnSpPr>
          <p:nvPr/>
        </p:nvCxnSpPr>
        <p:spPr>
          <a:xfrm rot="10800000" flipV="1">
            <a:off x="711200" y="4427584"/>
            <a:ext cx="2122267" cy="206337"/>
          </a:xfrm>
          <a:prstGeom prst="bentConnector4">
            <a:avLst>
              <a:gd name="adj1" fmla="val 39228"/>
              <a:gd name="adj2" fmla="val 34951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2257CE29-C29B-418D-B4C0-81F9D69A5FDF}"/>
              </a:ext>
            </a:extLst>
          </p:cNvPr>
          <p:cNvCxnSpPr>
            <a:cxnSpLocks/>
            <a:stCxn id="132" idx="1"/>
            <a:endCxn id="196" idx="3"/>
          </p:cNvCxnSpPr>
          <p:nvPr/>
        </p:nvCxnSpPr>
        <p:spPr>
          <a:xfrm rot="10800000" flipH="1" flipV="1">
            <a:off x="4683677" y="3211537"/>
            <a:ext cx="560435" cy="1216047"/>
          </a:xfrm>
          <a:prstGeom prst="bentConnector5">
            <a:avLst>
              <a:gd name="adj1" fmla="val -40790"/>
              <a:gd name="adj2" fmla="val 44368"/>
              <a:gd name="adj3" fmla="val 140790"/>
            </a:avLst>
          </a:prstGeom>
          <a:ln>
            <a:solidFill>
              <a:srgbClr val="F612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4DA05B2-2E82-4FF6-883C-A5092D783884}"/>
              </a:ext>
            </a:extLst>
          </p:cNvPr>
          <p:cNvSpPr/>
          <p:nvPr/>
        </p:nvSpPr>
        <p:spPr>
          <a:xfrm>
            <a:off x="3074393" y="3101474"/>
            <a:ext cx="1225257" cy="526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Update Status: 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Checked out</a:t>
            </a:r>
          </a:p>
        </p:txBody>
      </p:sp>
      <p:cxnSp>
        <p:nvCxnSpPr>
          <p:cNvPr id="225" name="Connector: Elbow 224">
            <a:extLst>
              <a:ext uri="{FF2B5EF4-FFF2-40B4-BE49-F238E27FC236}">
                <a16:creationId xmlns:a16="http://schemas.microsoft.com/office/drawing/2014/main" id="{FFF3204A-1EFF-4279-8D80-BFD1B566B177}"/>
              </a:ext>
            </a:extLst>
          </p:cNvPr>
          <p:cNvCxnSpPr>
            <a:stCxn id="35" idx="3"/>
          </p:cNvCxnSpPr>
          <p:nvPr/>
        </p:nvCxnSpPr>
        <p:spPr>
          <a:xfrm>
            <a:off x="9319383" y="571006"/>
            <a:ext cx="408817" cy="32037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1085ACE-D6CD-4094-88EB-42D88A98ACF8}"/>
              </a:ext>
            </a:extLst>
          </p:cNvPr>
          <p:cNvCxnSpPr>
            <a:cxnSpLocks/>
          </p:cNvCxnSpPr>
          <p:nvPr/>
        </p:nvCxnSpPr>
        <p:spPr>
          <a:xfrm flipV="1">
            <a:off x="3687021" y="3641157"/>
            <a:ext cx="0" cy="2671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DA117931-EBE0-47C5-A6B0-C5D18BBFA1DC}"/>
              </a:ext>
            </a:extLst>
          </p:cNvPr>
          <p:cNvCxnSpPr>
            <a:stCxn id="213" idx="1"/>
            <a:endCxn id="86" idx="4"/>
          </p:cNvCxnSpPr>
          <p:nvPr/>
        </p:nvCxnSpPr>
        <p:spPr>
          <a:xfrm rot="10800000">
            <a:off x="1166717" y="3099459"/>
            <a:ext cx="1907677" cy="26526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Connector: Elbow 237">
            <a:extLst>
              <a:ext uri="{FF2B5EF4-FFF2-40B4-BE49-F238E27FC236}">
                <a16:creationId xmlns:a16="http://schemas.microsoft.com/office/drawing/2014/main" id="{10D57548-5337-4324-9A0B-1A7F01AB9B66}"/>
              </a:ext>
            </a:extLst>
          </p:cNvPr>
          <p:cNvCxnSpPr>
            <a:cxnSpLocks/>
          </p:cNvCxnSpPr>
          <p:nvPr/>
        </p:nvCxnSpPr>
        <p:spPr>
          <a:xfrm>
            <a:off x="2614031" y="3848959"/>
            <a:ext cx="5721148" cy="393486"/>
          </a:xfrm>
          <a:prstGeom prst="bentConnector3">
            <a:avLst>
              <a:gd name="adj1" fmla="val 524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8E7FAA1E-60A5-47BB-AC3A-ED38A1E7F148}"/>
              </a:ext>
            </a:extLst>
          </p:cNvPr>
          <p:cNvCxnSpPr>
            <a:cxnSpLocks/>
          </p:cNvCxnSpPr>
          <p:nvPr/>
        </p:nvCxnSpPr>
        <p:spPr>
          <a:xfrm rot="10800000">
            <a:off x="1148486" y="3293190"/>
            <a:ext cx="1465547" cy="5557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056FEB1F-4A81-469C-AE2F-B82BE41BABC6}"/>
              </a:ext>
            </a:extLst>
          </p:cNvPr>
          <p:cNvSpPr txBox="1"/>
          <p:nvPr/>
        </p:nvSpPr>
        <p:spPr>
          <a:xfrm>
            <a:off x="2581901" y="514100"/>
            <a:ext cx="5645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Admin</a:t>
            </a:r>
          </a:p>
        </p:txBody>
      </p:sp>
      <p:pic>
        <p:nvPicPr>
          <p:cNvPr id="259" name="Graphic 258" descr="Devil face with no fill">
            <a:extLst>
              <a:ext uri="{FF2B5EF4-FFF2-40B4-BE49-F238E27FC236}">
                <a16:creationId xmlns:a16="http://schemas.microsoft.com/office/drawing/2014/main" id="{6D28F8E5-6C7F-4BC8-8150-19E486EAAB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6673" y="5318962"/>
            <a:ext cx="288121" cy="288121"/>
          </a:xfrm>
          <a:prstGeom prst="rect">
            <a:avLst/>
          </a:prstGeom>
        </p:spPr>
      </p:pic>
      <p:pic>
        <p:nvPicPr>
          <p:cNvPr id="260" name="Graphic 259" descr="Devil face with no fill">
            <a:extLst>
              <a:ext uri="{FF2B5EF4-FFF2-40B4-BE49-F238E27FC236}">
                <a16:creationId xmlns:a16="http://schemas.microsoft.com/office/drawing/2014/main" id="{F2455ACB-1DC0-4F6C-965A-AE43DFD2EE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04956" y="374749"/>
            <a:ext cx="288121" cy="288121"/>
          </a:xfrm>
          <a:prstGeom prst="rect">
            <a:avLst/>
          </a:prstGeom>
        </p:spPr>
      </p:pic>
      <p:pic>
        <p:nvPicPr>
          <p:cNvPr id="261" name="Graphic 260" descr="Devil face with no fill">
            <a:extLst>
              <a:ext uri="{FF2B5EF4-FFF2-40B4-BE49-F238E27FC236}">
                <a16:creationId xmlns:a16="http://schemas.microsoft.com/office/drawing/2014/main" id="{7E3DB4CA-91E2-4A85-96A1-B90E7D330C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19899" y="794391"/>
            <a:ext cx="288121" cy="288121"/>
          </a:xfrm>
          <a:prstGeom prst="rect">
            <a:avLst/>
          </a:prstGeom>
        </p:spPr>
      </p:pic>
      <p:pic>
        <p:nvPicPr>
          <p:cNvPr id="262" name="Graphic 261" descr="Devil face with no fill">
            <a:extLst>
              <a:ext uri="{FF2B5EF4-FFF2-40B4-BE49-F238E27FC236}">
                <a16:creationId xmlns:a16="http://schemas.microsoft.com/office/drawing/2014/main" id="{CA9072D2-4C3A-4E97-91AC-FB826C5906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32522" y="1182604"/>
            <a:ext cx="288121" cy="288121"/>
          </a:xfrm>
          <a:prstGeom prst="rect">
            <a:avLst/>
          </a:prstGeom>
        </p:spPr>
      </p:pic>
      <p:sp>
        <p:nvSpPr>
          <p:cNvPr id="271" name="Rectangle 270">
            <a:extLst>
              <a:ext uri="{FF2B5EF4-FFF2-40B4-BE49-F238E27FC236}">
                <a16:creationId xmlns:a16="http://schemas.microsoft.com/office/drawing/2014/main" id="{A2DD468F-6241-4115-AA97-B128C0EFCBB0}"/>
              </a:ext>
            </a:extLst>
          </p:cNvPr>
          <p:cNvSpPr/>
          <p:nvPr/>
        </p:nvSpPr>
        <p:spPr>
          <a:xfrm>
            <a:off x="6385485" y="5269224"/>
            <a:ext cx="1241113" cy="6381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ato" panose="020F0502020204030203" pitchFamily="34" charset="0"/>
              </a:rPr>
              <a:t>Show feedback form with filled data</a:t>
            </a: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6C2433EF-688C-4190-93DC-1771F6454BE6}"/>
              </a:ext>
            </a:extLst>
          </p:cNvPr>
          <p:cNvCxnSpPr/>
          <p:nvPr/>
        </p:nvCxnSpPr>
        <p:spPr>
          <a:xfrm flipH="1">
            <a:off x="7657439" y="5522221"/>
            <a:ext cx="670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CF195A1F-8E22-4B40-8D71-499D317C1541}"/>
              </a:ext>
            </a:extLst>
          </p:cNvPr>
          <p:cNvCxnSpPr>
            <a:stCxn id="271" idx="2"/>
            <a:endCxn id="36" idx="0"/>
          </p:cNvCxnSpPr>
          <p:nvPr/>
        </p:nvCxnSpPr>
        <p:spPr>
          <a:xfrm flipH="1">
            <a:off x="7006041" y="5907398"/>
            <a:ext cx="1" cy="193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Connector: Elbow 292">
            <a:extLst>
              <a:ext uri="{FF2B5EF4-FFF2-40B4-BE49-F238E27FC236}">
                <a16:creationId xmlns:a16="http://schemas.microsoft.com/office/drawing/2014/main" id="{C2D3B3EF-4A8F-46F6-8FEB-3A82BA6082C0}"/>
              </a:ext>
            </a:extLst>
          </p:cNvPr>
          <p:cNvCxnSpPr>
            <a:cxnSpLocks/>
            <a:endCxn id="14" idx="4"/>
          </p:cNvCxnSpPr>
          <p:nvPr/>
        </p:nvCxnSpPr>
        <p:spPr>
          <a:xfrm rot="10800000" flipV="1">
            <a:off x="1272765" y="4946841"/>
            <a:ext cx="2445100" cy="805880"/>
          </a:xfrm>
          <a:prstGeom prst="bentConnector3">
            <a:avLst>
              <a:gd name="adj1" fmla="val 137"/>
            </a:avLst>
          </a:prstGeom>
          <a:ln>
            <a:solidFill>
              <a:srgbClr val="00B050"/>
            </a:solidFill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Connector: Elbow 298">
            <a:extLst>
              <a:ext uri="{FF2B5EF4-FFF2-40B4-BE49-F238E27FC236}">
                <a16:creationId xmlns:a16="http://schemas.microsoft.com/office/drawing/2014/main" id="{29013D9B-B5AC-4213-A4CD-36C7A8029465}"/>
              </a:ext>
            </a:extLst>
          </p:cNvPr>
          <p:cNvCxnSpPr>
            <a:cxnSpLocks/>
          </p:cNvCxnSpPr>
          <p:nvPr/>
        </p:nvCxnSpPr>
        <p:spPr>
          <a:xfrm rot="10800000">
            <a:off x="5264791" y="4879867"/>
            <a:ext cx="1434515" cy="14082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TextBox 303">
            <a:extLst>
              <a:ext uri="{FF2B5EF4-FFF2-40B4-BE49-F238E27FC236}">
                <a16:creationId xmlns:a16="http://schemas.microsoft.com/office/drawing/2014/main" id="{99F6A4DC-151C-4583-94E9-E3E608A49DCE}"/>
              </a:ext>
            </a:extLst>
          </p:cNvPr>
          <p:cNvSpPr txBox="1"/>
          <p:nvPr/>
        </p:nvSpPr>
        <p:spPr>
          <a:xfrm>
            <a:off x="6791140" y="637746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ato" panose="020F0502020204030203" pitchFamily="34" charset="0"/>
              </a:rPr>
              <a:t>sync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FF73216B-53ED-4D4F-B9C8-086E0FC91AF6}"/>
              </a:ext>
            </a:extLst>
          </p:cNvPr>
          <p:cNvSpPr/>
          <p:nvPr/>
        </p:nvSpPr>
        <p:spPr>
          <a:xfrm>
            <a:off x="6503160" y="785155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Seat Management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(/admin/hostel/seats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5432AAC-E283-4112-B439-5885E848CDC3}"/>
              </a:ext>
            </a:extLst>
          </p:cNvPr>
          <p:cNvSpPr/>
          <p:nvPr/>
        </p:nvSpPr>
        <p:spPr>
          <a:xfrm>
            <a:off x="7954133" y="782196"/>
            <a:ext cx="1374773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038A06E-073B-4BF9-9B3B-1EBF08FC81DB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5930535" y="755169"/>
            <a:ext cx="490736" cy="1669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59EA7C-9880-4628-9BE6-8922C180D561}"/>
              </a:ext>
            </a:extLst>
          </p:cNvPr>
          <p:cNvCxnSpPr/>
          <p:nvPr/>
        </p:nvCxnSpPr>
        <p:spPr>
          <a:xfrm>
            <a:off x="11938000" y="3876859"/>
            <a:ext cx="0" cy="1892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Cylinder 70">
            <a:extLst>
              <a:ext uri="{FF2B5EF4-FFF2-40B4-BE49-F238E27FC236}">
                <a16:creationId xmlns:a16="http://schemas.microsoft.com/office/drawing/2014/main" id="{686709D6-9756-4072-AD72-CDCA0846F223}"/>
              </a:ext>
            </a:extLst>
          </p:cNvPr>
          <p:cNvSpPr/>
          <p:nvPr/>
        </p:nvSpPr>
        <p:spPr>
          <a:xfrm>
            <a:off x="3491363" y="1514882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users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3BDAAE-214F-4D75-9E81-5F2224F19E35}"/>
              </a:ext>
            </a:extLst>
          </p:cNvPr>
          <p:cNvCxnSpPr>
            <a:cxnSpLocks/>
          </p:cNvCxnSpPr>
          <p:nvPr/>
        </p:nvCxnSpPr>
        <p:spPr>
          <a:xfrm>
            <a:off x="3948563" y="1199665"/>
            <a:ext cx="0" cy="2644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84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F39E8E3-D5C8-4FDA-9FE6-2CB72FC8E91A}"/>
              </a:ext>
            </a:extLst>
          </p:cNvPr>
          <p:cNvSpPr/>
          <p:nvPr/>
        </p:nvSpPr>
        <p:spPr>
          <a:xfrm>
            <a:off x="1340203" y="104032"/>
            <a:ext cx="8661048" cy="4691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02AC7-8EE0-454C-A42A-48BAD365C673}"/>
              </a:ext>
            </a:extLst>
          </p:cNvPr>
          <p:cNvSpPr txBox="1"/>
          <p:nvPr/>
        </p:nvSpPr>
        <p:spPr>
          <a:xfrm>
            <a:off x="0" y="6602667"/>
            <a:ext cx="27622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Hostel (/admin/hostel) – [Protected Routes]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37227-6ABB-4D10-B040-940029FB3E04}"/>
              </a:ext>
            </a:extLst>
          </p:cNvPr>
          <p:cNvSpPr/>
          <p:nvPr/>
        </p:nvSpPr>
        <p:spPr>
          <a:xfrm>
            <a:off x="116587" y="101444"/>
            <a:ext cx="978787" cy="471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Hostel </a:t>
            </a:r>
            <a:r>
              <a:rPr lang="en-US" sz="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(/admin/hostel</a:t>
            </a:r>
            <a:r>
              <a:rPr lang="en-US" sz="1000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7E2D85-5548-4CE1-A276-B7B399AABE4E}"/>
              </a:ext>
            </a:extLst>
          </p:cNvPr>
          <p:cNvSpPr/>
          <p:nvPr/>
        </p:nvSpPr>
        <p:spPr>
          <a:xfrm>
            <a:off x="1420814" y="177862"/>
            <a:ext cx="162814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Seats</a:t>
            </a:r>
          </a:p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hostel?tab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=seats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07FA99-C6E8-4567-AE66-284E4F61A300}"/>
              </a:ext>
            </a:extLst>
          </p:cNvPr>
          <p:cNvSpPr/>
          <p:nvPr/>
        </p:nvSpPr>
        <p:spPr>
          <a:xfrm>
            <a:off x="4880626" y="177862"/>
            <a:ext cx="162814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Edit Seats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hostel?tab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=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edit_info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DB9E8-ADED-4B55-8770-1E803799C8D0}"/>
              </a:ext>
            </a:extLst>
          </p:cNvPr>
          <p:cNvSpPr/>
          <p:nvPr/>
        </p:nvSpPr>
        <p:spPr>
          <a:xfrm>
            <a:off x="8279045" y="177862"/>
            <a:ext cx="162814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 request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hostel?tab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=requests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79896DB-DE21-46F2-99FC-2C97CF0C7B01}"/>
              </a:ext>
            </a:extLst>
          </p:cNvPr>
          <p:cNvCxnSpPr>
            <a:cxnSpLocks/>
          </p:cNvCxnSpPr>
          <p:nvPr/>
        </p:nvCxnSpPr>
        <p:spPr>
          <a:xfrm>
            <a:off x="1114424" y="337325"/>
            <a:ext cx="235881" cy="235880"/>
          </a:xfrm>
          <a:prstGeom prst="bentConnector3">
            <a:avLst>
              <a:gd name="adj1" fmla="val 326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C282358-917D-4D9E-B936-750C77C192C6}"/>
              </a:ext>
            </a:extLst>
          </p:cNvPr>
          <p:cNvSpPr/>
          <p:nvPr/>
        </p:nvSpPr>
        <p:spPr>
          <a:xfrm>
            <a:off x="3168169" y="177862"/>
            <a:ext cx="162814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Add Seat</a:t>
            </a:r>
          </a:p>
          <a:p>
            <a:pPr algn="ctr"/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hostel?tab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=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add_seat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57612D-D7DE-466B-AEDB-EBF0A705499D}"/>
              </a:ext>
            </a:extLst>
          </p:cNvPr>
          <p:cNvCxnSpPr/>
          <p:nvPr/>
        </p:nvCxnSpPr>
        <p:spPr>
          <a:xfrm>
            <a:off x="2209800" y="641926"/>
            <a:ext cx="0" cy="760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D5E012-25D6-4AE4-B9AD-9B026FC41E8B}"/>
              </a:ext>
            </a:extLst>
          </p:cNvPr>
          <p:cNvSpPr txBox="1"/>
          <p:nvPr/>
        </p:nvSpPr>
        <p:spPr>
          <a:xfrm>
            <a:off x="2160894" y="899072"/>
            <a:ext cx="7713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Query Seats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8C44C1F8-5132-44F4-9BF0-FBF8EB0A516F}"/>
              </a:ext>
            </a:extLst>
          </p:cNvPr>
          <p:cNvSpPr/>
          <p:nvPr/>
        </p:nvSpPr>
        <p:spPr>
          <a:xfrm>
            <a:off x="1752600" y="1434722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Seats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38A47C-1C0A-4485-819A-03DF12E7B1BC}"/>
              </a:ext>
            </a:extLst>
          </p:cNvPr>
          <p:cNvCxnSpPr/>
          <p:nvPr/>
        </p:nvCxnSpPr>
        <p:spPr>
          <a:xfrm flipV="1">
            <a:off x="2131828" y="621861"/>
            <a:ext cx="0" cy="760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0DCE5AF-A15F-4146-876F-CD17C58983E2}"/>
              </a:ext>
            </a:extLst>
          </p:cNvPr>
          <p:cNvSpPr/>
          <p:nvPr/>
        </p:nvSpPr>
        <p:spPr>
          <a:xfrm>
            <a:off x="6593083" y="177862"/>
            <a:ext cx="1628141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 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(/admin/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hostel?tab</a:t>
            </a:r>
            <a:r>
              <a:rPr lang="en-US" sz="700" dirty="0">
                <a:latin typeface="Inter 18pt" panose="02000503000000020004" pitchFamily="2" charset="0"/>
                <a:ea typeface="Inter 18pt" panose="02000503000000020004" pitchFamily="2" charset="0"/>
              </a:rPr>
              <a:t>=</a:t>
            </a:r>
            <a:r>
              <a:rPr lang="en-US" sz="700" dirty="0" err="1">
                <a:latin typeface="Inter 18pt" panose="02000503000000020004" pitchFamily="2" charset="0"/>
                <a:ea typeface="Inter 18pt" panose="02000503000000020004" pitchFamily="2" charset="0"/>
              </a:rPr>
              <a:t>edit_info</a:t>
            </a:r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)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0FD6E5-A27B-4407-A2BE-925BAA650DF4}"/>
              </a:ext>
            </a:extLst>
          </p:cNvPr>
          <p:cNvSpPr txBox="1"/>
          <p:nvPr/>
        </p:nvSpPr>
        <p:spPr>
          <a:xfrm>
            <a:off x="2819445" y="1528477"/>
            <a:ext cx="9989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Add New Record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169FBA0-22DB-436C-A578-9BB9BA20E821}"/>
              </a:ext>
            </a:extLst>
          </p:cNvPr>
          <p:cNvCxnSpPr>
            <a:cxnSpLocks/>
          </p:cNvCxnSpPr>
          <p:nvPr/>
        </p:nvCxnSpPr>
        <p:spPr>
          <a:xfrm rot="5400000">
            <a:off x="2720792" y="442996"/>
            <a:ext cx="1207659" cy="13152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62C448E-9FB9-4ADD-815E-D14A7D2126A0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3472502" y="-282087"/>
            <a:ext cx="1443323" cy="30010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D5FD270-1D86-49F6-87FF-BFB1CE57D644}"/>
              </a:ext>
            </a:extLst>
          </p:cNvPr>
          <p:cNvSpPr txBox="1"/>
          <p:nvPr/>
        </p:nvSpPr>
        <p:spPr>
          <a:xfrm>
            <a:off x="4122296" y="1715177"/>
            <a:ext cx="1305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Update/Delete Records</a:t>
            </a:r>
          </a:p>
        </p:txBody>
      </p:sp>
      <p:sp>
        <p:nvSpPr>
          <p:cNvPr id="38" name="Flowchart: Predefined Process 37">
            <a:extLst>
              <a:ext uri="{FF2B5EF4-FFF2-40B4-BE49-F238E27FC236}">
                <a16:creationId xmlns:a16="http://schemas.microsoft.com/office/drawing/2014/main" id="{1431E138-2BB8-4110-8578-AC2DA6434902}"/>
              </a:ext>
            </a:extLst>
          </p:cNvPr>
          <p:cNvSpPr/>
          <p:nvPr/>
        </p:nvSpPr>
        <p:spPr>
          <a:xfrm>
            <a:off x="6821052" y="783043"/>
            <a:ext cx="1134102" cy="257175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ato" panose="020F0502020204030203" pitchFamily="34" charset="0"/>
              </a:rPr>
              <a:t>Verify PIN Form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25B3F0-1CCA-41B9-9339-4DF49108E4CB}"/>
              </a:ext>
            </a:extLst>
          </p:cNvPr>
          <p:cNvCxnSpPr>
            <a:cxnSpLocks/>
          </p:cNvCxnSpPr>
          <p:nvPr/>
        </p:nvCxnSpPr>
        <p:spPr>
          <a:xfrm>
            <a:off x="7362825" y="563680"/>
            <a:ext cx="0" cy="205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Flowchart: Decision 47">
            <a:extLst>
              <a:ext uri="{FF2B5EF4-FFF2-40B4-BE49-F238E27FC236}">
                <a16:creationId xmlns:a16="http://schemas.microsoft.com/office/drawing/2014/main" id="{8B9DFF19-75E6-4697-92D6-006DF503DFFC}"/>
              </a:ext>
            </a:extLst>
          </p:cNvPr>
          <p:cNvSpPr/>
          <p:nvPr/>
        </p:nvSpPr>
        <p:spPr>
          <a:xfrm>
            <a:off x="6948018" y="1264843"/>
            <a:ext cx="842069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Valid</a:t>
            </a: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?</a:t>
            </a:r>
          </a:p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68020A-66F9-4493-8D64-25F93228C86B}"/>
              </a:ext>
            </a:extLst>
          </p:cNvPr>
          <p:cNvSpPr txBox="1"/>
          <p:nvPr/>
        </p:nvSpPr>
        <p:spPr>
          <a:xfrm>
            <a:off x="7806592" y="1355342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No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310E22-A5D0-4524-BD6D-944017033120}"/>
              </a:ext>
            </a:extLst>
          </p:cNvPr>
          <p:cNvSpPr txBox="1"/>
          <p:nvPr/>
        </p:nvSpPr>
        <p:spPr>
          <a:xfrm>
            <a:off x="6864625" y="1734181"/>
            <a:ext cx="365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Yes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75986A-193D-4833-908A-51B6A4067991}"/>
              </a:ext>
            </a:extLst>
          </p:cNvPr>
          <p:cNvSpPr txBox="1"/>
          <p:nvPr/>
        </p:nvSpPr>
        <p:spPr>
          <a:xfrm>
            <a:off x="8221224" y="2721332"/>
            <a:ext cx="19953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Warning: Maximum Retry (MR) = 10 </a:t>
            </a:r>
          </a:p>
        </p:txBody>
      </p:sp>
      <p:sp>
        <p:nvSpPr>
          <p:cNvPr id="56" name="Flowchart: Predefined Process 55">
            <a:extLst>
              <a:ext uri="{FF2B5EF4-FFF2-40B4-BE49-F238E27FC236}">
                <a16:creationId xmlns:a16="http://schemas.microsoft.com/office/drawing/2014/main" id="{18FD7ACF-9C1C-4A90-A164-8F408551A9EC}"/>
              </a:ext>
            </a:extLst>
          </p:cNvPr>
          <p:cNvSpPr/>
          <p:nvPr/>
        </p:nvSpPr>
        <p:spPr>
          <a:xfrm>
            <a:off x="6840102" y="2102116"/>
            <a:ext cx="1134102" cy="257175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ato" panose="020F0502020204030203" pitchFamily="34" charset="0"/>
              </a:rPr>
              <a:t>Check-in Form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EE531C8-E3C5-4933-B5CE-68F61DAA4B93}"/>
              </a:ext>
            </a:extLst>
          </p:cNvPr>
          <p:cNvCxnSpPr>
            <a:cxnSpLocks/>
          </p:cNvCxnSpPr>
          <p:nvPr/>
        </p:nvCxnSpPr>
        <p:spPr>
          <a:xfrm>
            <a:off x="7359528" y="1886887"/>
            <a:ext cx="0" cy="205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EEE1D5F-EA48-409D-ABCE-C72AD3E75647}"/>
              </a:ext>
            </a:extLst>
          </p:cNvPr>
          <p:cNvCxnSpPr>
            <a:cxnSpLocks/>
          </p:cNvCxnSpPr>
          <p:nvPr/>
        </p:nvCxnSpPr>
        <p:spPr>
          <a:xfrm>
            <a:off x="7384806" y="2371229"/>
            <a:ext cx="0" cy="205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Cylinder 62">
            <a:extLst>
              <a:ext uri="{FF2B5EF4-FFF2-40B4-BE49-F238E27FC236}">
                <a16:creationId xmlns:a16="http://schemas.microsoft.com/office/drawing/2014/main" id="{39C26F07-7656-488E-A64F-80622276DD1B}"/>
              </a:ext>
            </a:extLst>
          </p:cNvPr>
          <p:cNvSpPr/>
          <p:nvPr/>
        </p:nvSpPr>
        <p:spPr>
          <a:xfrm>
            <a:off x="1703694" y="2454443"/>
            <a:ext cx="914400" cy="814362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Check-in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CE5ED6-1580-4C67-BD11-AC4FFD7F2371}"/>
              </a:ext>
            </a:extLst>
          </p:cNvPr>
          <p:cNvSpPr/>
          <p:nvPr/>
        </p:nvSpPr>
        <p:spPr>
          <a:xfrm>
            <a:off x="3825168" y="3039812"/>
            <a:ext cx="2277015" cy="61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800" b="1" dirty="0">
                <a:latin typeface="Lato" panose="020F0502020204030203" pitchFamily="34" charset="0"/>
              </a:rPr>
              <a:t>Transection</a:t>
            </a:r>
          </a:p>
          <a:p>
            <a:pPr marL="228600" indent="-228600">
              <a:buAutoNum type="arabicPeriod"/>
            </a:pPr>
            <a:r>
              <a:rPr lang="en-US" sz="800" dirty="0">
                <a:latin typeface="Lato" panose="020F0502020204030203" pitchFamily="34" charset="0"/>
              </a:rPr>
              <a:t>Create New record            &gt; Table: check-in</a:t>
            </a:r>
          </a:p>
          <a:p>
            <a:pPr marL="228600" indent="-228600">
              <a:buAutoNum type="arabicPeriod"/>
            </a:pPr>
            <a:r>
              <a:rPr lang="en-US" sz="800" dirty="0">
                <a:latin typeface="Lato" panose="020F0502020204030203" pitchFamily="34" charset="0"/>
              </a:rPr>
              <a:t>Update Seats to Booked &gt; Table: seats</a:t>
            </a:r>
          </a:p>
          <a:p>
            <a:pPr marL="228600" indent="-228600">
              <a:buAutoNum type="arabicPeriod"/>
            </a:pPr>
            <a:r>
              <a:rPr lang="en-US" sz="800" dirty="0">
                <a:latin typeface="Lato" panose="020F0502020204030203" pitchFamily="34" charset="0"/>
              </a:rPr>
              <a:t>Rollback if fails &amp; Notify</a:t>
            </a:r>
          </a:p>
          <a:p>
            <a:pPr marL="228600" indent="-228600">
              <a:buAutoNum type="arabicPeriod"/>
            </a:pPr>
            <a:endParaRPr lang="en-US" sz="800" dirty="0">
              <a:latin typeface="Lato" panose="020F0502020204030203" pitchFamily="34" charset="0"/>
            </a:endParaRPr>
          </a:p>
          <a:p>
            <a:pPr marL="228600" indent="-228600">
              <a:buAutoNum type="arabicPeriod"/>
            </a:pPr>
            <a:endParaRPr lang="en-US" sz="800" b="1" dirty="0">
              <a:latin typeface="Lato" panose="020F0502020204030203" pitchFamily="34" charset="0"/>
            </a:endParaRPr>
          </a:p>
        </p:txBody>
      </p:sp>
      <p:sp>
        <p:nvSpPr>
          <p:cNvPr id="73" name="Flowchart: Predefined Process 72">
            <a:extLst>
              <a:ext uri="{FF2B5EF4-FFF2-40B4-BE49-F238E27FC236}">
                <a16:creationId xmlns:a16="http://schemas.microsoft.com/office/drawing/2014/main" id="{BCE61087-5D31-4965-8611-670936B3F2EB}"/>
              </a:ext>
            </a:extLst>
          </p:cNvPr>
          <p:cNvSpPr/>
          <p:nvPr/>
        </p:nvSpPr>
        <p:spPr>
          <a:xfrm>
            <a:off x="6840102" y="2576933"/>
            <a:ext cx="1134102" cy="257175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ato" panose="020F0502020204030203" pitchFamily="34" charset="0"/>
              </a:rPr>
              <a:t>Submit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ABB70DE-0225-4700-8AD6-6F90BBD0EA89}"/>
              </a:ext>
            </a:extLst>
          </p:cNvPr>
          <p:cNvCxnSpPr>
            <a:cxnSpLocks/>
          </p:cNvCxnSpPr>
          <p:nvPr/>
        </p:nvCxnSpPr>
        <p:spPr>
          <a:xfrm>
            <a:off x="7390912" y="2834108"/>
            <a:ext cx="0" cy="205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Flowchart: Decision 74">
            <a:extLst>
              <a:ext uri="{FF2B5EF4-FFF2-40B4-BE49-F238E27FC236}">
                <a16:creationId xmlns:a16="http://schemas.microsoft.com/office/drawing/2014/main" id="{2F8FC0A8-9954-4170-9590-03DC31FEE499}"/>
              </a:ext>
            </a:extLst>
          </p:cNvPr>
          <p:cNvSpPr/>
          <p:nvPr/>
        </p:nvSpPr>
        <p:spPr>
          <a:xfrm>
            <a:off x="6973430" y="3039812"/>
            <a:ext cx="842057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Avail</a:t>
            </a: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?</a:t>
            </a:r>
          </a:p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2540C8-BAA9-4C63-A008-71B2778AB744}"/>
              </a:ext>
            </a:extLst>
          </p:cNvPr>
          <p:cNvSpPr txBox="1"/>
          <p:nvPr/>
        </p:nvSpPr>
        <p:spPr>
          <a:xfrm>
            <a:off x="6681722" y="3108600"/>
            <a:ext cx="365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Yes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053507-F15C-483E-BAE7-5231561F0DC3}"/>
              </a:ext>
            </a:extLst>
          </p:cNvPr>
          <p:cNvSpPr txBox="1"/>
          <p:nvPr/>
        </p:nvSpPr>
        <p:spPr>
          <a:xfrm>
            <a:off x="7795041" y="3176132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No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75460EA6-A002-4CE3-A417-25265C83F1A9}"/>
              </a:ext>
            </a:extLst>
          </p:cNvPr>
          <p:cNvCxnSpPr>
            <a:cxnSpLocks/>
            <a:stCxn id="75" idx="3"/>
            <a:endCxn id="56" idx="3"/>
          </p:cNvCxnSpPr>
          <p:nvPr/>
        </p:nvCxnSpPr>
        <p:spPr>
          <a:xfrm flipV="1">
            <a:off x="7815487" y="2230704"/>
            <a:ext cx="158717" cy="1115432"/>
          </a:xfrm>
          <a:prstGeom prst="bentConnector3">
            <a:avLst>
              <a:gd name="adj1" fmla="val 244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177EB7B1-30CA-4423-A766-781B6B4DBF94}"/>
              </a:ext>
            </a:extLst>
          </p:cNvPr>
          <p:cNvCxnSpPr>
            <a:stCxn id="72" idx="1"/>
            <a:endCxn id="63" idx="4"/>
          </p:cNvCxnSpPr>
          <p:nvPr/>
        </p:nvCxnSpPr>
        <p:spPr>
          <a:xfrm rot="10800000">
            <a:off x="2618094" y="2861624"/>
            <a:ext cx="1207074" cy="484512"/>
          </a:xfrm>
          <a:prstGeom prst="bentConnector3">
            <a:avLst>
              <a:gd name="adj1" fmla="val 689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F15E3721-E332-4605-B501-D503DB70D9A3}"/>
              </a:ext>
            </a:extLst>
          </p:cNvPr>
          <p:cNvCxnSpPr>
            <a:cxnSpLocks/>
          </p:cNvCxnSpPr>
          <p:nvPr/>
        </p:nvCxnSpPr>
        <p:spPr>
          <a:xfrm rot="10800000">
            <a:off x="2696082" y="2110723"/>
            <a:ext cx="1122354" cy="922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7D1829E-02E4-4BDB-857F-E9D2C7E1159D}"/>
              </a:ext>
            </a:extLst>
          </p:cNvPr>
          <p:cNvCxnSpPr>
            <a:cxnSpLocks/>
          </p:cNvCxnSpPr>
          <p:nvPr/>
        </p:nvCxnSpPr>
        <p:spPr>
          <a:xfrm flipH="1">
            <a:off x="6096000" y="3346136"/>
            <a:ext cx="899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Graphic 39" descr="Download from cloud">
            <a:extLst>
              <a:ext uri="{FF2B5EF4-FFF2-40B4-BE49-F238E27FC236}">
                <a16:creationId xmlns:a16="http://schemas.microsoft.com/office/drawing/2014/main" id="{D179ED3A-DE66-4378-86A3-D891840BE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4390" y="896191"/>
            <a:ext cx="368652" cy="368652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0D975B4-C433-4A41-8541-2217481B15D2}"/>
              </a:ext>
            </a:extLst>
          </p:cNvPr>
          <p:cNvGrpSpPr/>
          <p:nvPr/>
        </p:nvGrpSpPr>
        <p:grpSpPr>
          <a:xfrm>
            <a:off x="1703694" y="4234743"/>
            <a:ext cx="1986042" cy="1038102"/>
            <a:chOff x="9282264" y="2155635"/>
            <a:chExt cx="1986042" cy="1038102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AA64411-4D65-4E27-91A2-76AC00B47C32}"/>
                </a:ext>
              </a:extLst>
            </p:cNvPr>
            <p:cNvSpPr/>
            <p:nvPr/>
          </p:nvSpPr>
          <p:spPr>
            <a:xfrm>
              <a:off x="9282264" y="2155635"/>
              <a:ext cx="1986042" cy="10381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1B03A702-B573-4DF7-AB7E-15A1205CE0A1}"/>
                </a:ext>
              </a:extLst>
            </p:cNvPr>
            <p:cNvCxnSpPr/>
            <p:nvPr/>
          </p:nvCxnSpPr>
          <p:spPr>
            <a:xfrm>
              <a:off x="10050224" y="2703101"/>
              <a:ext cx="49672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4506539-183B-4CAA-95B2-DDC1360DD31C}"/>
                </a:ext>
              </a:extLst>
            </p:cNvPr>
            <p:cNvGrpSpPr/>
            <p:nvPr/>
          </p:nvGrpSpPr>
          <p:grpSpPr>
            <a:xfrm>
              <a:off x="9395189" y="2298339"/>
              <a:ext cx="1773668" cy="814362"/>
              <a:chOff x="9369708" y="2047262"/>
              <a:chExt cx="1773668" cy="814362"/>
            </a:xfrm>
          </p:grpSpPr>
          <p:sp>
            <p:nvSpPr>
              <p:cNvPr id="111" name="Cylinder 110">
                <a:extLst>
                  <a:ext uri="{FF2B5EF4-FFF2-40B4-BE49-F238E27FC236}">
                    <a16:creationId xmlns:a16="http://schemas.microsoft.com/office/drawing/2014/main" id="{D6E74F5F-00C7-4F64-A6AC-B937F8AB4CB6}"/>
                  </a:ext>
                </a:extLst>
              </p:cNvPr>
              <p:cNvSpPr/>
              <p:nvPr/>
            </p:nvSpPr>
            <p:spPr>
              <a:xfrm>
                <a:off x="9369708" y="2047262"/>
                <a:ext cx="590649" cy="814362"/>
              </a:xfrm>
              <a:prstGeom prst="ca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Inter 18pt" panose="02000503000000020004" pitchFamily="2" charset="0"/>
                    <a:ea typeface="Inter 18pt" panose="02000503000000020004" pitchFamily="2" charset="0"/>
                  </a:rPr>
                  <a:t>Users</a:t>
                </a:r>
              </a:p>
            </p:txBody>
          </p:sp>
          <p:sp>
            <p:nvSpPr>
              <p:cNvPr id="112" name="Cylinder 111">
                <a:extLst>
                  <a:ext uri="{FF2B5EF4-FFF2-40B4-BE49-F238E27FC236}">
                    <a16:creationId xmlns:a16="http://schemas.microsoft.com/office/drawing/2014/main" id="{2E2FB229-DF7E-4E5E-9450-3D84DF30B757}"/>
                  </a:ext>
                </a:extLst>
              </p:cNvPr>
              <p:cNvSpPr/>
              <p:nvPr/>
            </p:nvSpPr>
            <p:spPr>
              <a:xfrm>
                <a:off x="10552727" y="2047262"/>
                <a:ext cx="590649" cy="814362"/>
              </a:xfrm>
              <a:prstGeom prst="ca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latin typeface="Inter 18pt" panose="02000503000000020004" pitchFamily="2" charset="0"/>
                    <a:ea typeface="Inter 18pt" panose="02000503000000020004" pitchFamily="2" charset="0"/>
                  </a:rPr>
                  <a:t>U_Pin</a:t>
                </a:r>
                <a:endParaRPr lang="en-US" sz="1000" dirty="0">
                  <a:latin typeface="Inter 18pt" panose="02000503000000020004" pitchFamily="2" charset="0"/>
                  <a:ea typeface="Inter 18pt" panose="02000503000000020004" pitchFamily="2" charset="0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EA1E368-7160-4DF8-89EB-FD846D674EA9}"/>
                  </a:ext>
                </a:extLst>
              </p:cNvPr>
              <p:cNvSpPr txBox="1"/>
              <p:nvPr/>
            </p:nvSpPr>
            <p:spPr>
              <a:xfrm>
                <a:off x="9960357" y="2265169"/>
                <a:ext cx="6254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Inter 18pt" panose="02000503000000020004" pitchFamily="2" charset="0"/>
                    <a:ea typeface="Inter 18pt" panose="02000503000000020004" pitchFamily="2" charset="0"/>
                  </a:rPr>
                  <a:t>One-One</a:t>
                </a:r>
              </a:p>
            </p:txBody>
          </p:sp>
        </p:grpSp>
      </p:grpSp>
      <p:cxnSp>
        <p:nvCxnSpPr>
          <p:cNvPr id="124" name="Connector: Curved 123">
            <a:extLst>
              <a:ext uri="{FF2B5EF4-FFF2-40B4-BE49-F238E27FC236}">
                <a16:creationId xmlns:a16="http://schemas.microsoft.com/office/drawing/2014/main" id="{31CE4C88-7A98-4D55-A959-6D0351295129}"/>
              </a:ext>
            </a:extLst>
          </p:cNvPr>
          <p:cNvCxnSpPr>
            <a:cxnSpLocks/>
            <a:stCxn id="38" idx="1"/>
            <a:endCxn id="121" idx="3"/>
          </p:cNvCxnSpPr>
          <p:nvPr/>
        </p:nvCxnSpPr>
        <p:spPr>
          <a:xfrm rot="10800000" flipV="1">
            <a:off x="3689736" y="911630"/>
            <a:ext cx="3131316" cy="3842163"/>
          </a:xfrm>
          <a:prstGeom prst="bentConnector3">
            <a:avLst>
              <a:gd name="adj1" fmla="val 10253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D7CA70A-A0EC-4AFC-9517-B2611346DB47}"/>
              </a:ext>
            </a:extLst>
          </p:cNvPr>
          <p:cNvCxnSpPr>
            <a:cxnSpLocks/>
          </p:cNvCxnSpPr>
          <p:nvPr/>
        </p:nvCxnSpPr>
        <p:spPr>
          <a:xfrm>
            <a:off x="7372106" y="1059139"/>
            <a:ext cx="0" cy="205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Flowchart: Decision 138">
            <a:extLst>
              <a:ext uri="{FF2B5EF4-FFF2-40B4-BE49-F238E27FC236}">
                <a16:creationId xmlns:a16="http://schemas.microsoft.com/office/drawing/2014/main" id="{9CB7C166-E237-43A6-BE54-8DDAC01A009C}"/>
              </a:ext>
            </a:extLst>
          </p:cNvPr>
          <p:cNvSpPr/>
          <p:nvPr/>
        </p:nvSpPr>
        <p:spPr>
          <a:xfrm>
            <a:off x="8394689" y="1583758"/>
            <a:ext cx="750566" cy="63214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MR</a:t>
            </a: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&lt;10</a:t>
            </a:r>
          </a:p>
          <a:p>
            <a:pPr algn="ctr"/>
            <a:r>
              <a:rPr lang="en-US" sz="800" dirty="0">
                <a:latin typeface="Lato" panose="020F0502020204030203" pitchFamily="34" charset="0"/>
              </a:rPr>
              <a:t>?</a:t>
            </a:r>
          </a:p>
          <a:p>
            <a:pPr algn="ctr"/>
            <a:endParaRPr lang="en-US" sz="800" dirty="0">
              <a:latin typeface="Lato" panose="020F0502020204030203" pitchFamily="34" charset="0"/>
            </a:endParaRPr>
          </a:p>
          <a:p>
            <a:pPr algn="ctr"/>
            <a:endParaRPr lang="en-US" dirty="0"/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6C0A5A71-67E4-43C7-AEED-00863A633107}"/>
              </a:ext>
            </a:extLst>
          </p:cNvPr>
          <p:cNvCxnSpPr>
            <a:stCxn id="48" idx="3"/>
            <a:endCxn id="139" idx="1"/>
          </p:cNvCxnSpPr>
          <p:nvPr/>
        </p:nvCxnSpPr>
        <p:spPr>
          <a:xfrm>
            <a:off x="7790087" y="1571167"/>
            <a:ext cx="604602" cy="3286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C7EA556A-5CB8-4C70-A22D-DC41852C1369}"/>
              </a:ext>
            </a:extLst>
          </p:cNvPr>
          <p:cNvCxnSpPr>
            <a:stCxn id="139" idx="0"/>
            <a:endCxn id="38" idx="3"/>
          </p:cNvCxnSpPr>
          <p:nvPr/>
        </p:nvCxnSpPr>
        <p:spPr>
          <a:xfrm rot="16200000" flipV="1">
            <a:off x="8026500" y="840286"/>
            <a:ext cx="672127" cy="8148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1765AF0D-4849-4A71-99F5-515DDE44E164}"/>
              </a:ext>
            </a:extLst>
          </p:cNvPr>
          <p:cNvSpPr txBox="1"/>
          <p:nvPr/>
        </p:nvSpPr>
        <p:spPr>
          <a:xfrm>
            <a:off x="8134038" y="1677807"/>
            <a:ext cx="3658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Yes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DDDBB11-71B5-4B2D-B393-91EA831271DA}"/>
              </a:ext>
            </a:extLst>
          </p:cNvPr>
          <p:cNvSpPr txBox="1"/>
          <p:nvPr/>
        </p:nvSpPr>
        <p:spPr>
          <a:xfrm>
            <a:off x="8754053" y="2174874"/>
            <a:ext cx="322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No</a:t>
            </a:r>
          </a:p>
        </p:txBody>
      </p:sp>
      <p:sp>
        <p:nvSpPr>
          <p:cNvPr id="148" name="Flowchart: Predefined Process 147">
            <a:extLst>
              <a:ext uri="{FF2B5EF4-FFF2-40B4-BE49-F238E27FC236}">
                <a16:creationId xmlns:a16="http://schemas.microsoft.com/office/drawing/2014/main" id="{A25CAF10-FB1C-481F-9737-FE86A345764B}"/>
              </a:ext>
            </a:extLst>
          </p:cNvPr>
          <p:cNvSpPr/>
          <p:nvPr/>
        </p:nvSpPr>
        <p:spPr>
          <a:xfrm>
            <a:off x="8349476" y="2474081"/>
            <a:ext cx="840992" cy="247251"/>
          </a:xfrm>
          <a:prstGeom prst="flowChartPredefined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ato" panose="020F0502020204030203" pitchFamily="34" charset="0"/>
              </a:rPr>
              <a:t>Lock 60s. 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4BBFE19-8659-4915-B6BA-DC4BA73A7016}"/>
              </a:ext>
            </a:extLst>
          </p:cNvPr>
          <p:cNvCxnSpPr>
            <a:cxnSpLocks/>
            <a:stCxn id="139" idx="2"/>
            <a:endCxn id="148" idx="0"/>
          </p:cNvCxnSpPr>
          <p:nvPr/>
        </p:nvCxnSpPr>
        <p:spPr>
          <a:xfrm>
            <a:off x="8769972" y="2215902"/>
            <a:ext cx="0" cy="258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nector: Curved 155">
            <a:extLst>
              <a:ext uri="{FF2B5EF4-FFF2-40B4-BE49-F238E27FC236}">
                <a16:creationId xmlns:a16="http://schemas.microsoft.com/office/drawing/2014/main" id="{B301EFC3-27A9-4117-B750-614E657EB75E}"/>
              </a:ext>
            </a:extLst>
          </p:cNvPr>
          <p:cNvCxnSpPr>
            <a:stCxn id="148" idx="3"/>
          </p:cNvCxnSpPr>
          <p:nvPr/>
        </p:nvCxnSpPr>
        <p:spPr>
          <a:xfrm flipH="1" flipV="1">
            <a:off x="7974204" y="783043"/>
            <a:ext cx="1216264" cy="1814664"/>
          </a:xfrm>
          <a:prstGeom prst="bentConnector4">
            <a:avLst>
              <a:gd name="adj1" fmla="val -18795"/>
              <a:gd name="adj2" fmla="val 10043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E2B57F9-E8C0-491A-9D41-6ADF7EE0D61F}"/>
              </a:ext>
            </a:extLst>
          </p:cNvPr>
          <p:cNvSpPr/>
          <p:nvPr/>
        </p:nvSpPr>
        <p:spPr>
          <a:xfrm>
            <a:off x="10263506" y="166621"/>
            <a:ext cx="588292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Local Service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5F6E951-5018-40CD-BB2E-EEE58966E17D}"/>
              </a:ext>
            </a:extLst>
          </p:cNvPr>
          <p:cNvSpPr/>
          <p:nvPr/>
        </p:nvSpPr>
        <p:spPr>
          <a:xfrm>
            <a:off x="10324570" y="1675489"/>
            <a:ext cx="588292" cy="3189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Inter 18pt" panose="02000503000000020004" pitchFamily="2" charset="0"/>
                <a:ea typeface="Inter 18pt" panose="02000503000000020004" pitchFamily="2" charset="0"/>
              </a:rPr>
              <a:t>Remote Service</a:t>
            </a:r>
            <a:endParaRPr lang="en-US" sz="1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3D47D0A7-7E35-425B-825E-7593790C093D}"/>
              </a:ext>
            </a:extLst>
          </p:cNvPr>
          <p:cNvCxnSpPr>
            <a:stCxn id="164" idx="3"/>
            <a:endCxn id="165" idx="3"/>
          </p:cNvCxnSpPr>
          <p:nvPr/>
        </p:nvCxnSpPr>
        <p:spPr>
          <a:xfrm>
            <a:off x="10851798" y="326083"/>
            <a:ext cx="61064" cy="1508868"/>
          </a:xfrm>
          <a:prstGeom prst="bentConnector3">
            <a:avLst>
              <a:gd name="adj1" fmla="val 33397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nector: Curved 169">
            <a:extLst>
              <a:ext uri="{FF2B5EF4-FFF2-40B4-BE49-F238E27FC236}">
                <a16:creationId xmlns:a16="http://schemas.microsoft.com/office/drawing/2014/main" id="{6CC3D5D5-9A8F-4B87-9BC4-ECDAFA42769A}"/>
              </a:ext>
            </a:extLst>
          </p:cNvPr>
          <p:cNvCxnSpPr>
            <a:stCxn id="165" idx="1"/>
            <a:endCxn id="164" idx="1"/>
          </p:cNvCxnSpPr>
          <p:nvPr/>
        </p:nvCxnSpPr>
        <p:spPr>
          <a:xfrm rot="10800000">
            <a:off x="10263506" y="326083"/>
            <a:ext cx="61064" cy="1508868"/>
          </a:xfrm>
          <a:prstGeom prst="bentConnector3">
            <a:avLst>
              <a:gd name="adj1" fmla="val 3183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3175F4F5-482C-481E-B627-3D07A0F111E2}"/>
              </a:ext>
            </a:extLst>
          </p:cNvPr>
          <p:cNvSpPr txBox="1"/>
          <p:nvPr/>
        </p:nvSpPr>
        <p:spPr>
          <a:xfrm>
            <a:off x="10388864" y="1186243"/>
            <a:ext cx="4539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Inter 18pt" panose="02000503000000020004" pitchFamily="2" charset="0"/>
                <a:ea typeface="Inter 18pt" panose="02000503000000020004" pitchFamily="2" charset="0"/>
              </a:rPr>
              <a:t>gRPC</a:t>
            </a:r>
            <a:endParaRPr lang="en-US" sz="8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B478697-E278-4C38-BB44-6E9FD42E399F}"/>
              </a:ext>
            </a:extLst>
          </p:cNvPr>
          <p:cNvSpPr txBox="1"/>
          <p:nvPr/>
        </p:nvSpPr>
        <p:spPr>
          <a:xfrm>
            <a:off x="10216602" y="2000458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Collect Data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CB10C9E-377D-4FDC-8322-C458543489EF}"/>
              </a:ext>
            </a:extLst>
          </p:cNvPr>
          <p:cNvSpPr txBox="1"/>
          <p:nvPr/>
        </p:nvSpPr>
        <p:spPr>
          <a:xfrm>
            <a:off x="10851797" y="135608"/>
            <a:ext cx="8114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Update Data</a:t>
            </a:r>
          </a:p>
        </p:txBody>
      </p:sp>
      <p:cxnSp>
        <p:nvCxnSpPr>
          <p:cNvPr id="184" name="Connector: Curved 183">
            <a:extLst>
              <a:ext uri="{FF2B5EF4-FFF2-40B4-BE49-F238E27FC236}">
                <a16:creationId xmlns:a16="http://schemas.microsoft.com/office/drawing/2014/main" id="{A0E7E096-5518-4C46-B78D-044D0517F817}"/>
              </a:ext>
            </a:extLst>
          </p:cNvPr>
          <p:cNvCxnSpPr>
            <a:endCxn id="164" idx="0"/>
          </p:cNvCxnSpPr>
          <p:nvPr/>
        </p:nvCxnSpPr>
        <p:spPr>
          <a:xfrm flipV="1">
            <a:off x="10001251" y="166621"/>
            <a:ext cx="556401" cy="11241"/>
          </a:xfrm>
          <a:prstGeom prst="curvedConnector4">
            <a:avLst>
              <a:gd name="adj1" fmla="val 23567"/>
              <a:gd name="adj2" fmla="val 1201548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344CAFD1-20E9-4D0C-8555-E5CEB9095953}"/>
              </a:ext>
            </a:extLst>
          </p:cNvPr>
          <p:cNvSpPr txBox="1"/>
          <p:nvPr/>
        </p:nvSpPr>
        <p:spPr>
          <a:xfrm>
            <a:off x="10259020" y="776816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Inter 18pt" panose="02000503000000020004" pitchFamily="2" charset="0"/>
                <a:ea typeface="Inter 18pt" panose="02000503000000020004" pitchFamily="2" charset="0"/>
              </a:rPr>
              <a:t>Full Duplex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95924-9A08-478A-B079-0C7B4663CAAD}"/>
              </a:ext>
            </a:extLst>
          </p:cNvPr>
          <p:cNvSpPr txBox="1"/>
          <p:nvPr/>
        </p:nvSpPr>
        <p:spPr>
          <a:xfrm>
            <a:off x="8073807" y="4127229"/>
            <a:ext cx="23150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Lato" panose="020F0502020204030203" pitchFamily="34" charset="0"/>
              </a:rPr>
              <a:t>Initial design</a:t>
            </a:r>
          </a:p>
        </p:txBody>
      </p:sp>
    </p:spTree>
    <p:extLst>
      <p:ext uri="{BB962C8B-B14F-4D97-AF65-F5344CB8AC3E}">
        <p14:creationId xmlns:p14="http://schemas.microsoft.com/office/powerpoint/2010/main" val="240488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375D76-5382-4323-82E9-33B0A5A2540F}"/>
              </a:ext>
            </a:extLst>
          </p:cNvPr>
          <p:cNvSpPr/>
          <p:nvPr/>
        </p:nvSpPr>
        <p:spPr>
          <a:xfrm>
            <a:off x="6601460" y="999686"/>
            <a:ext cx="1028065" cy="14062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4186BB-269E-45BC-BC60-274EEBBD35E5}"/>
              </a:ext>
            </a:extLst>
          </p:cNvPr>
          <p:cNvSpPr/>
          <p:nvPr/>
        </p:nvSpPr>
        <p:spPr>
          <a:xfrm>
            <a:off x="1569720" y="298072"/>
            <a:ext cx="1051560" cy="897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C9ADD-977C-4ADD-9B84-E4273B15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4" y="97645"/>
            <a:ext cx="9207572" cy="285263"/>
          </a:xfrm>
        </p:spPr>
        <p:txBody>
          <a:bodyPr>
            <a:noAutofit/>
          </a:bodyPr>
          <a:lstStyle/>
          <a:p>
            <a:r>
              <a:rPr lang="en-US" sz="1000" dirty="0">
                <a:solidFill>
                  <a:srgbClr val="00B0F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High Level Overview (Updated: 23/02/2026) – v2 Current (Booking system-  </a:t>
            </a:r>
            <a:r>
              <a:rPr lang="en-US" sz="1000" dirty="0" err="1">
                <a:solidFill>
                  <a:srgbClr val="00B0F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github</a:t>
            </a:r>
            <a:r>
              <a:rPr lang="en-US" sz="1000" dirty="0">
                <a:solidFill>
                  <a:srgbClr val="00B0F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 branch (develop-v2)</a:t>
            </a:r>
            <a:br>
              <a:rPr lang="en-US" sz="1000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000" dirty="0">
              <a:solidFill>
                <a:srgbClr val="00B050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pic>
        <p:nvPicPr>
          <p:cNvPr id="11" name="Graphic 10" descr="Universal Access">
            <a:extLst>
              <a:ext uri="{FF2B5EF4-FFF2-40B4-BE49-F238E27FC236}">
                <a16:creationId xmlns:a16="http://schemas.microsoft.com/office/drawing/2014/main" id="{B3DFACE4-CE1C-42E1-AB0D-EDFAA9B58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393904"/>
            <a:ext cx="482600" cy="482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B4B987-5EFE-4B73-8D64-8DADDF0C4E97}"/>
              </a:ext>
            </a:extLst>
          </p:cNvPr>
          <p:cNvSpPr txBox="1"/>
          <p:nvPr/>
        </p:nvSpPr>
        <p:spPr>
          <a:xfrm>
            <a:off x="286570" y="772515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Officer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C00602-AB38-447B-9A58-91BF2FD06892}"/>
              </a:ext>
            </a:extLst>
          </p:cNvPr>
          <p:cNvSpPr/>
          <p:nvPr/>
        </p:nvSpPr>
        <p:spPr>
          <a:xfrm>
            <a:off x="1638300" y="349600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Search Seats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5677EB-352B-41C2-A7BA-69A951DB5414}"/>
              </a:ext>
            </a:extLst>
          </p:cNvPr>
          <p:cNvCxnSpPr/>
          <p:nvPr/>
        </p:nvCxnSpPr>
        <p:spPr>
          <a:xfrm>
            <a:off x="866140" y="695795"/>
            <a:ext cx="635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BF4DBA6-8FD1-4CBA-AE5E-B5ADD09F1869}"/>
              </a:ext>
            </a:extLst>
          </p:cNvPr>
          <p:cNvSpPr/>
          <p:nvPr/>
        </p:nvSpPr>
        <p:spPr>
          <a:xfrm>
            <a:off x="3022600" y="517014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View Seats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1A27575-3419-407C-8CB5-4E5B1CC75380}"/>
              </a:ext>
            </a:extLst>
          </p:cNvPr>
          <p:cNvSpPr/>
          <p:nvPr/>
        </p:nvSpPr>
        <p:spPr>
          <a:xfrm>
            <a:off x="4406900" y="518412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Booking (Next)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2519C53-C4E0-4327-8B3A-E1BA1BAABD93}"/>
              </a:ext>
            </a:extLst>
          </p:cNvPr>
          <p:cNvCxnSpPr>
            <a:cxnSpLocks/>
          </p:cNvCxnSpPr>
          <p:nvPr/>
        </p:nvCxnSpPr>
        <p:spPr>
          <a:xfrm>
            <a:off x="3987800" y="701438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AC1E5C7C-00F1-4D42-8D01-59FE0BE23A23}"/>
              </a:ext>
            </a:extLst>
          </p:cNvPr>
          <p:cNvSpPr/>
          <p:nvPr/>
        </p:nvSpPr>
        <p:spPr>
          <a:xfrm>
            <a:off x="5732780" y="509394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Verify Data (GEMS)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6DB899-44FA-4304-8A74-28B7B210BC05}"/>
              </a:ext>
            </a:extLst>
          </p:cNvPr>
          <p:cNvCxnSpPr>
            <a:cxnSpLocks/>
          </p:cNvCxnSpPr>
          <p:nvPr/>
        </p:nvCxnSpPr>
        <p:spPr>
          <a:xfrm>
            <a:off x="5334000" y="701438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3E22B6BB-1505-478F-AB79-2B18A3FA2462}"/>
              </a:ext>
            </a:extLst>
          </p:cNvPr>
          <p:cNvSpPr/>
          <p:nvPr/>
        </p:nvSpPr>
        <p:spPr>
          <a:xfrm>
            <a:off x="7038340" y="500628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Confirm Booking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905FCA3-6367-45B7-A6D8-45915C758826}"/>
              </a:ext>
            </a:extLst>
          </p:cNvPr>
          <p:cNvCxnSpPr>
            <a:cxnSpLocks/>
          </p:cNvCxnSpPr>
          <p:nvPr/>
        </p:nvCxnSpPr>
        <p:spPr>
          <a:xfrm>
            <a:off x="6654800" y="699097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577E279-04FB-47CC-B6C8-D09E4390DD69}"/>
              </a:ext>
            </a:extLst>
          </p:cNvPr>
          <p:cNvSpPr/>
          <p:nvPr/>
        </p:nvSpPr>
        <p:spPr>
          <a:xfrm>
            <a:off x="9026459" y="1389142"/>
            <a:ext cx="2529074" cy="6273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000" b="1" dirty="0"/>
              <a:t>Transection</a:t>
            </a:r>
          </a:p>
          <a:p>
            <a:pPr marL="228600" indent="-228600">
              <a:buAutoNum type="arabicPeriod"/>
            </a:pPr>
            <a:r>
              <a:rPr lang="en-US" sz="1000" dirty="0"/>
              <a:t>Create Officer (DBT: officers)</a:t>
            </a:r>
          </a:p>
          <a:p>
            <a:pPr marL="228600" indent="-228600">
              <a:buAutoNum type="arabicPeriod"/>
            </a:pPr>
            <a:r>
              <a:rPr lang="en-US" sz="1000" dirty="0"/>
              <a:t>Change status to booked (DBT: </a:t>
            </a:r>
            <a:r>
              <a:rPr lang="en-US" sz="1000" dirty="0" err="1"/>
              <a:t>checkins</a:t>
            </a:r>
            <a:r>
              <a:rPr lang="en-US" sz="1000" dirty="0"/>
              <a:t>)</a:t>
            </a:r>
          </a:p>
          <a:p>
            <a:pPr marL="228600" indent="-228600">
              <a:buAutoNum type="arabicPeriod"/>
            </a:pPr>
            <a:endParaRPr lang="en-US" sz="1000" dirty="0"/>
          </a:p>
          <a:p>
            <a:pPr marL="228600" indent="-228600">
              <a:buAutoNum type="arabicPeriod"/>
            </a:pPr>
            <a:endParaRPr lang="en-US" sz="1000" b="1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64FD6C8-28FD-41FC-981A-E294D1A93F49}"/>
              </a:ext>
            </a:extLst>
          </p:cNvPr>
          <p:cNvCxnSpPr>
            <a:cxnSpLocks/>
          </p:cNvCxnSpPr>
          <p:nvPr/>
        </p:nvCxnSpPr>
        <p:spPr>
          <a:xfrm>
            <a:off x="7952740" y="675276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354F5E00-761C-4566-A797-4717001608D0}"/>
              </a:ext>
            </a:extLst>
          </p:cNvPr>
          <p:cNvSpPr/>
          <p:nvPr/>
        </p:nvSpPr>
        <p:spPr>
          <a:xfrm>
            <a:off x="1638300" y="772515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Officer’s Login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0306A4-16EA-4391-B207-B983F9DFBE33}"/>
              </a:ext>
            </a:extLst>
          </p:cNvPr>
          <p:cNvCxnSpPr>
            <a:endCxn id="80" idx="1"/>
          </p:cNvCxnSpPr>
          <p:nvPr/>
        </p:nvCxnSpPr>
        <p:spPr>
          <a:xfrm>
            <a:off x="2552700" y="517014"/>
            <a:ext cx="469900" cy="189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iamond 2">
            <a:extLst>
              <a:ext uri="{FF2B5EF4-FFF2-40B4-BE49-F238E27FC236}">
                <a16:creationId xmlns:a16="http://schemas.microsoft.com/office/drawing/2014/main" id="{BB84EE9A-B62B-46E9-B5FD-48852930330C}"/>
              </a:ext>
            </a:extLst>
          </p:cNvPr>
          <p:cNvSpPr/>
          <p:nvPr/>
        </p:nvSpPr>
        <p:spPr>
          <a:xfrm>
            <a:off x="3181349" y="1151126"/>
            <a:ext cx="914399" cy="5969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GAPI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88C8C56-7E3B-4D57-AB88-FE4C35F1F54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552700" y="996005"/>
            <a:ext cx="628649" cy="4535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72264A6-5B77-4D68-9AB5-0FC328469BE7}"/>
              </a:ext>
            </a:extLst>
          </p:cNvPr>
          <p:cNvSpPr/>
          <p:nvPr/>
        </p:nvSpPr>
        <p:spPr>
          <a:xfrm>
            <a:off x="4821555" y="1061946"/>
            <a:ext cx="914400" cy="378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View Dashboard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644F18A-4754-4246-B4E8-FC2FB830EB8A}"/>
              </a:ext>
            </a:extLst>
          </p:cNvPr>
          <p:cNvCxnSpPr>
            <a:stCxn id="3" idx="3"/>
          </p:cNvCxnSpPr>
          <p:nvPr/>
        </p:nvCxnSpPr>
        <p:spPr>
          <a:xfrm flipV="1">
            <a:off x="4095748" y="1260270"/>
            <a:ext cx="725807" cy="189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41033C-5081-473F-8D49-A7DBE4DCDC8A}"/>
              </a:ext>
            </a:extLst>
          </p:cNvPr>
          <p:cNvSpPr txBox="1"/>
          <p:nvPr/>
        </p:nvSpPr>
        <p:spPr>
          <a:xfrm>
            <a:off x="3987800" y="1260270"/>
            <a:ext cx="5148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Verified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3FB6216-9D0D-4558-98C9-ABAC61308529}"/>
              </a:ext>
            </a:extLst>
          </p:cNvPr>
          <p:cNvCxnSpPr>
            <a:cxnSpLocks/>
            <a:stCxn id="3" idx="2"/>
            <a:endCxn id="24" idx="2"/>
          </p:cNvCxnSpPr>
          <p:nvPr/>
        </p:nvCxnSpPr>
        <p:spPr>
          <a:xfrm rot="5400000" flipH="1">
            <a:off x="2590723" y="700200"/>
            <a:ext cx="552604" cy="1543049"/>
          </a:xfrm>
          <a:prstGeom prst="bentConnector3">
            <a:avLst>
              <a:gd name="adj1" fmla="val -413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7C8AB4-EFED-4230-810B-A1A4E88BF5BC}"/>
              </a:ext>
            </a:extLst>
          </p:cNvPr>
          <p:cNvSpPr txBox="1"/>
          <p:nvPr/>
        </p:nvSpPr>
        <p:spPr>
          <a:xfrm>
            <a:off x="2415953" y="1791541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Failed to Verify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3DAAFD-C575-43B9-AA43-4F4A0E4BF691}"/>
              </a:ext>
            </a:extLst>
          </p:cNvPr>
          <p:cNvSpPr/>
          <p:nvPr/>
        </p:nvSpPr>
        <p:spPr>
          <a:xfrm>
            <a:off x="6654800" y="1061946"/>
            <a:ext cx="914400" cy="2785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Notice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BE3F3B-355F-4EAB-BB4A-8E4B086EB482}"/>
              </a:ext>
            </a:extLst>
          </p:cNvPr>
          <p:cNvSpPr txBox="1"/>
          <p:nvPr/>
        </p:nvSpPr>
        <p:spPr>
          <a:xfrm>
            <a:off x="4621530" y="1449576"/>
            <a:ext cx="182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Remember login with device id. </a:t>
            </a:r>
          </a:p>
          <a:p>
            <a:r>
              <a:rPr lang="en-US" sz="800" dirty="0"/>
              <a:t>Session validity update checkout data</a:t>
            </a:r>
          </a:p>
          <a:p>
            <a:r>
              <a:rPr lang="en-US" sz="800" dirty="0"/>
              <a:t>Logged out other devices automatically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807B2B-F5CA-4D38-978A-EE5BA7C6092F}"/>
              </a:ext>
            </a:extLst>
          </p:cNvPr>
          <p:cNvSpPr/>
          <p:nvPr/>
        </p:nvSpPr>
        <p:spPr>
          <a:xfrm>
            <a:off x="6654800" y="1409520"/>
            <a:ext cx="914400" cy="2785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Extension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81323C-59E4-40C6-B01C-09D4732D8EC6}"/>
              </a:ext>
            </a:extLst>
          </p:cNvPr>
          <p:cNvSpPr/>
          <p:nvPr/>
        </p:nvSpPr>
        <p:spPr>
          <a:xfrm>
            <a:off x="6654800" y="1748026"/>
            <a:ext cx="914400" cy="2785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Meals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D9C6CB-B2AF-41F2-803E-DEB95B96291D}"/>
              </a:ext>
            </a:extLst>
          </p:cNvPr>
          <p:cNvSpPr/>
          <p:nvPr/>
        </p:nvSpPr>
        <p:spPr>
          <a:xfrm>
            <a:off x="6654800" y="2086532"/>
            <a:ext cx="914400" cy="2785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Report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79C830D-DA91-418E-89CD-F06CEACC70B6}"/>
              </a:ext>
            </a:extLst>
          </p:cNvPr>
          <p:cNvCxnSpPr>
            <a:stCxn id="25" idx="3"/>
          </p:cNvCxnSpPr>
          <p:nvPr/>
        </p:nvCxnSpPr>
        <p:spPr>
          <a:xfrm>
            <a:off x="5735955" y="1251252"/>
            <a:ext cx="865505" cy="2244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456C619-E76C-4F98-A0DD-BF9B82AF8D90}"/>
              </a:ext>
            </a:extLst>
          </p:cNvPr>
          <p:cNvSpPr txBox="1"/>
          <p:nvPr/>
        </p:nvSpPr>
        <p:spPr>
          <a:xfrm>
            <a:off x="9064252" y="2404735"/>
            <a:ext cx="2145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      Notice: Global Notices for all types of guest.</a:t>
            </a:r>
          </a:p>
          <a:p>
            <a:r>
              <a:rPr lang="en-US" sz="800" dirty="0"/>
              <a:t>Extension: Booking extension features</a:t>
            </a:r>
          </a:p>
          <a:p>
            <a:r>
              <a:rPr lang="en-US" sz="800" dirty="0"/>
              <a:t>       Meals: Stop/Continue meals</a:t>
            </a:r>
          </a:p>
          <a:p>
            <a:r>
              <a:rPr lang="en-US" sz="800" dirty="0"/>
              <a:t>      Report: User statistics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4BD51FA3-6FA0-4BBC-9925-CE4EA4054EB0}"/>
              </a:ext>
            </a:extLst>
          </p:cNvPr>
          <p:cNvSpPr/>
          <p:nvPr/>
        </p:nvSpPr>
        <p:spPr>
          <a:xfrm>
            <a:off x="3832224" y="2516244"/>
            <a:ext cx="523876" cy="552605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Officers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1FB6BC6-5D45-406A-86B7-E9EAE43443B7}"/>
              </a:ext>
            </a:extLst>
          </p:cNvPr>
          <p:cNvCxnSpPr>
            <a:cxnSpLocks/>
            <a:stCxn id="27" idx="0"/>
          </p:cNvCxnSpPr>
          <p:nvPr/>
        </p:nvCxnSpPr>
        <p:spPr>
          <a:xfrm rot="16200000" flipV="1">
            <a:off x="3528751" y="2081801"/>
            <a:ext cx="674418" cy="456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612773D-F2BD-4F5B-8E6F-7A66D84FDEBC}"/>
              </a:ext>
            </a:extLst>
          </p:cNvPr>
          <p:cNvCxnSpPr>
            <a:stCxn id="18" idx="2"/>
            <a:endCxn id="27" idx="4"/>
          </p:cNvCxnSpPr>
          <p:nvPr/>
        </p:nvCxnSpPr>
        <p:spPr>
          <a:xfrm rot="5400000">
            <a:off x="5542516" y="1219570"/>
            <a:ext cx="386562" cy="275939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iamond 6">
            <a:extLst>
              <a:ext uri="{FF2B5EF4-FFF2-40B4-BE49-F238E27FC236}">
                <a16:creationId xmlns:a16="http://schemas.microsoft.com/office/drawing/2014/main" id="{BC4EC600-3571-4F17-BF58-C1EC36617DC5}"/>
              </a:ext>
            </a:extLst>
          </p:cNvPr>
          <p:cNvSpPr/>
          <p:nvPr/>
        </p:nvSpPr>
        <p:spPr>
          <a:xfrm>
            <a:off x="8308340" y="218076"/>
            <a:ext cx="1070765" cy="914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Already checked in?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E531D967-ADD8-42E0-9034-01DB1D0177B3}"/>
              </a:ext>
            </a:extLst>
          </p:cNvPr>
          <p:cNvCxnSpPr>
            <a:cxnSpLocks/>
            <a:stCxn id="7" idx="2"/>
            <a:endCxn id="24" idx="2"/>
          </p:cNvCxnSpPr>
          <p:nvPr/>
        </p:nvCxnSpPr>
        <p:spPr>
          <a:xfrm rot="5400000">
            <a:off x="5438139" y="-2210162"/>
            <a:ext cx="62946" cy="6748223"/>
          </a:xfrm>
          <a:prstGeom prst="bentConnector3">
            <a:avLst>
              <a:gd name="adj1" fmla="val 332816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8FC6857-4F2B-49B5-B15B-719E31C86384}"/>
              </a:ext>
            </a:extLst>
          </p:cNvPr>
          <p:cNvSpPr txBox="1"/>
          <p:nvPr/>
        </p:nvSpPr>
        <p:spPr>
          <a:xfrm>
            <a:off x="8430393" y="105622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yes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29C0B7C-A12F-4133-932C-552BB74C668B}"/>
              </a:ext>
            </a:extLst>
          </p:cNvPr>
          <p:cNvCxnSpPr>
            <a:stCxn id="7" idx="3"/>
          </p:cNvCxnSpPr>
          <p:nvPr/>
        </p:nvCxnSpPr>
        <p:spPr>
          <a:xfrm>
            <a:off x="9379105" y="675276"/>
            <a:ext cx="730095" cy="7342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74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6E57-D018-4793-8D29-58A07FAE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698" y="187704"/>
            <a:ext cx="10515600" cy="183515"/>
          </a:xfrm>
        </p:spPr>
        <p:txBody>
          <a:bodyPr>
            <a:normAutofit fontScale="90000"/>
          </a:bodyPr>
          <a:lstStyle/>
          <a:p>
            <a:r>
              <a:rPr lang="en-US" sz="1000" b="1" dirty="0">
                <a:solidFill>
                  <a:srgbClr val="00B0F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High Level Overview (Updated: 23/02/2026) – v2 Current (Booking system)- Terms</a:t>
            </a:r>
            <a:br>
              <a:rPr lang="en-US" sz="1000" b="1" dirty="0">
                <a:solidFill>
                  <a:srgbClr val="00B05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5366A-6653-47FC-88FF-FDD5593482D5}"/>
              </a:ext>
            </a:extLst>
          </p:cNvPr>
          <p:cNvSpPr txBox="1"/>
          <p:nvPr/>
        </p:nvSpPr>
        <p:spPr>
          <a:xfrm>
            <a:off x="237698" y="295838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Details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A1193ED-BF4C-4965-9E2F-57770C20F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663712"/>
              </p:ext>
            </p:extLst>
          </p:nvPr>
        </p:nvGraphicFramePr>
        <p:xfrm>
          <a:off x="507163" y="801552"/>
          <a:ext cx="11175321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0127">
                  <a:extLst>
                    <a:ext uri="{9D8B030D-6E8A-4147-A177-3AD203B41FA5}">
                      <a16:colId xmlns:a16="http://schemas.microsoft.com/office/drawing/2014/main" val="2169017818"/>
                    </a:ext>
                  </a:extLst>
                </a:gridCol>
                <a:gridCol w="9485194">
                  <a:extLst>
                    <a:ext uri="{9D8B030D-6E8A-4147-A177-3AD203B41FA5}">
                      <a16:colId xmlns:a16="http://schemas.microsoft.com/office/drawing/2014/main" val="384741067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Search 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Checkin</a:t>
                      </a:r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 Date(Fetch Current Date if date &lt; 10:59 set it to 11:00, date &gt; present date time &gt; present time if present time &gt; 11:00 checking date = +1 </a:t>
                      </a:r>
                    </a:p>
                    <a:p>
                      <a:r>
                        <a:rPr lang="en-US" sz="10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Chekout</a:t>
                      </a:r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 date = no particular limit. Checkout date &gt; </a:t>
                      </a:r>
                      <a:r>
                        <a:rPr lang="en-US" sz="10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checkin</a:t>
                      </a:r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7043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Officers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 this cadre id and phone already checked in. if yes show login using gems &gt;&gt; send post request &gt;&gt; get info and show dashboard else error no booking info found. </a:t>
                      </a:r>
                      <a:r>
                        <a:rPr lang="en-US" sz="10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Authen</a:t>
                      </a:r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6370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882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96408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943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1918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091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0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125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68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DD2D-BA42-4665-B7F3-A0BF0148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1"/>
            <a:ext cx="10515600" cy="315912"/>
          </a:xfrm>
        </p:spPr>
        <p:txBody>
          <a:bodyPr>
            <a:normAutofit/>
          </a:bodyPr>
          <a:lstStyle/>
          <a:p>
            <a:pPr algn="ctr"/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Models (Part-01)</a:t>
            </a:r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57C5DA19-270E-4CFB-B93E-1E225E57F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68202"/>
              </p:ext>
            </p:extLst>
          </p:nvPr>
        </p:nvGraphicFramePr>
        <p:xfrm>
          <a:off x="438150" y="500063"/>
          <a:ext cx="11315700" cy="658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969774681"/>
                    </a:ext>
                  </a:extLst>
                </a:gridCol>
                <a:gridCol w="7670800">
                  <a:extLst>
                    <a:ext uri="{9D8B030D-6E8A-4147-A177-3AD203B41FA5}">
                      <a16:colId xmlns:a16="http://schemas.microsoft.com/office/drawing/2014/main" val="152424906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717877335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63259379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Table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0568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Stores all feedback.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25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Master log for storing all users including authentication and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5954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Check-in information. (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id,Cadre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 ID, Name, Phone,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booked_room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booked_seats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(csv),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checkin_date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checkout_date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required_extension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(yes/no))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2172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check_in_req</a:t>
                      </a:r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Check-in-request information.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5611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check_out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Checkout information with payment id. (id,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officers_id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(FK), Cadre ID, Amount) have One to one relation with 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2213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All seat information with rent. (id,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room_no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seat_no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type(ac/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non_ac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), rent,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building_no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status(booked, available, unavailable), comment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035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U_Pin</a:t>
                      </a:r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Id, pin(Hashed), status(active, reset, blocked),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created_at</a:t>
                      </a:r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, </a:t>
                      </a:r>
                      <a:r>
                        <a:rPr lang="en-US" sz="1200" dirty="0" err="1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updated_at</a:t>
                      </a:r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One-One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Inter 18pt" panose="02000503000000020004" pitchFamily="2" charset="0"/>
                          <a:ea typeface="Inter 18pt" panose="02000503000000020004" pitchFamily="2" charset="0"/>
                        </a:rPr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8036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716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0783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8403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0803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787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2055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1948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966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5725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787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690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1901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1205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Inter 18pt" panose="02000503000000020004" pitchFamily="2" charset="0"/>
                        <a:ea typeface="Inter 18pt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84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529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DD2D-BA42-4665-B7F3-A0BF0148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1"/>
            <a:ext cx="10515600" cy="315912"/>
          </a:xfrm>
        </p:spPr>
        <p:txBody>
          <a:bodyPr>
            <a:normAutofit/>
          </a:bodyPr>
          <a:lstStyle/>
          <a:p>
            <a:pPr algn="ctr"/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Relationship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B0E81-FC3B-40C1-8513-B1E3E3D5AF93}"/>
              </a:ext>
            </a:extLst>
          </p:cNvPr>
          <p:cNvSpPr/>
          <p:nvPr/>
        </p:nvSpPr>
        <p:spPr>
          <a:xfrm>
            <a:off x="571500" y="635000"/>
            <a:ext cx="1663700" cy="21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Feedback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79293-6D82-4853-AA02-3738A36CE577}"/>
              </a:ext>
            </a:extLst>
          </p:cNvPr>
          <p:cNvSpPr/>
          <p:nvPr/>
        </p:nvSpPr>
        <p:spPr>
          <a:xfrm>
            <a:off x="2324100" y="635000"/>
            <a:ext cx="9410700" cy="21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>
                <a:latin typeface="Inter 18pt" panose="02000503000000020004" pitchFamily="2" charset="0"/>
                <a:ea typeface="Inter 18pt" panose="02000503000000020004" pitchFamily="2" charset="0"/>
              </a:rPr>
              <a:t>Int id, string phone, string roll, datetime roll</a:t>
            </a:r>
          </a:p>
        </p:txBody>
      </p:sp>
    </p:spTree>
    <p:extLst>
      <p:ext uri="{BB962C8B-B14F-4D97-AF65-F5344CB8AC3E}">
        <p14:creationId xmlns:p14="http://schemas.microsoft.com/office/powerpoint/2010/main" val="259630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6F7B-F5CE-47C4-94D1-AE5A1FCD2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36525"/>
            <a:ext cx="10515600" cy="434975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Lato" panose="020F0502020204030203" pitchFamily="34" charset="0"/>
                <a:cs typeface="Noto Sans Bengali" pitchFamily="2" charset="0"/>
              </a:rPr>
              <a:t>Deployment in Production (Part-01)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F892A-31D9-4C7D-8650-B596912EA903}"/>
              </a:ext>
            </a:extLst>
          </p:cNvPr>
          <p:cNvSpPr txBox="1"/>
          <p:nvPr/>
        </p:nvSpPr>
        <p:spPr>
          <a:xfrm>
            <a:off x="449943" y="571500"/>
            <a:ext cx="5822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</a:rPr>
              <a:t>Reconfigure guzzle http in </a:t>
            </a:r>
            <a:r>
              <a:rPr lang="en-US" sz="1200" dirty="0" err="1">
                <a:latin typeface="Lato" panose="020F0502020204030203" pitchFamily="34" charset="0"/>
              </a:rPr>
              <a:t>SmsGateWay</a:t>
            </a:r>
            <a:r>
              <a:rPr lang="en-US" sz="1200" dirty="0">
                <a:latin typeface="Lato" panose="020F0502020204030203" pitchFamily="34" charset="0"/>
              </a:rPr>
              <a:t> Class. </a:t>
            </a:r>
            <a:r>
              <a:rPr lang="en-US" sz="1200" dirty="0" err="1">
                <a:latin typeface="Lato" panose="020F0502020204030203" pitchFamily="34" charset="0"/>
              </a:rPr>
              <a:t>Crutial</a:t>
            </a:r>
            <a:r>
              <a:rPr lang="en-US" sz="1200" dirty="0">
                <a:latin typeface="Lato" panose="020F0502020204030203" pitchFamily="34" charset="0"/>
              </a:rPr>
              <a:t> for security in production</a:t>
            </a:r>
          </a:p>
        </p:txBody>
      </p:sp>
    </p:spTree>
    <p:extLst>
      <p:ext uri="{BB962C8B-B14F-4D97-AF65-F5344CB8AC3E}">
        <p14:creationId xmlns:p14="http://schemas.microsoft.com/office/powerpoint/2010/main" val="189238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5A909A-1BF4-4C23-888E-37B45BFE1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37162"/>
              </p:ext>
            </p:extLst>
          </p:nvPr>
        </p:nvGraphicFramePr>
        <p:xfrm>
          <a:off x="476250" y="296586"/>
          <a:ext cx="11239500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860">
                  <a:extLst>
                    <a:ext uri="{9D8B030D-6E8A-4147-A177-3AD203B41FA5}">
                      <a16:colId xmlns:a16="http://schemas.microsoft.com/office/drawing/2014/main" val="4061357203"/>
                    </a:ext>
                  </a:extLst>
                </a:gridCol>
                <a:gridCol w="3854640">
                  <a:extLst>
                    <a:ext uri="{9D8B030D-6E8A-4147-A177-3AD203B41FA5}">
                      <a16:colId xmlns:a16="http://schemas.microsoft.com/office/drawing/2014/main" val="2939277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682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n-NO" sz="1200" b="1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cmd:pin –help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Show all options for pin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962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n-NO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cmd:pin admin@biam set 1234    --admin</a:t>
                      </a:r>
                      <a:endParaRPr lang="en-US" sz="120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Set pin for specific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1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cmd:pin admin@biam verify 1234 –admin</a:t>
                      </a:r>
                      <a:endParaRPr lang="en-US" sz="120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verify pin for specific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098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i-FI" sz="1200" kern="1200" dirty="0">
                          <a:solidFill>
                            <a:schemeClr val="tx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cmd:pin user@email status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Change Status (Choose from option)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503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cmd:users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–help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Show all options for user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366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</a:t>
                      </a:r>
                      <a:r>
                        <a:rPr lang="en-US" sz="1200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cmd:users</a:t>
                      </a:r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create “Email" “Password"  “Name"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Create new user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410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</a:t>
                      </a:r>
                      <a:r>
                        <a:rPr lang="en-US" sz="1200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cmd:users</a:t>
                      </a:r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delete "user@example.com"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Delete a specific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286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php artisan </a:t>
                      </a:r>
                      <a:r>
                        <a:rPr lang="en-US" sz="1200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cmd:users</a:t>
                      </a:r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 update “email“  “password“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Change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34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90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A13F-BDB2-463F-AD4F-E473D7289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51616"/>
            <a:ext cx="9144000" cy="114060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BIAM Feedback and Hostel Management</a:t>
            </a:r>
            <a:b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br>
              <a:rPr lang="en-US" sz="28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</a:br>
            <a:r>
              <a:rPr lang="en-US" sz="1400" b="1" dirty="0">
                <a:solidFill>
                  <a:srgbClr val="FF0000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15/02/2026</a:t>
            </a:r>
          </a:p>
        </p:txBody>
      </p:sp>
      <p:pic>
        <p:nvPicPr>
          <p:cNvPr id="1028" name="Picture 4" descr="BIAM Foundation | Dhaka">
            <a:extLst>
              <a:ext uri="{FF2B5EF4-FFF2-40B4-BE49-F238E27FC236}">
                <a16:creationId xmlns:a16="http://schemas.microsoft.com/office/drawing/2014/main" id="{887CC4B7-4439-4C86-992A-CDE7CEA8F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377" y="1807310"/>
            <a:ext cx="1316084" cy="114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83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DF2349-D2BF-4474-9821-8EAE99B3E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9" y="321318"/>
            <a:ext cx="4467849" cy="5696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7B1BC1-2C04-44B3-85DB-D679D8B813AB}"/>
              </a:ext>
            </a:extLst>
          </p:cNvPr>
          <p:cNvSpPr txBox="1"/>
          <p:nvPr/>
        </p:nvSpPr>
        <p:spPr>
          <a:xfrm>
            <a:off x="5463716" y="1487561"/>
            <a:ext cx="606929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Inter 18pt" panose="02000503000000020004" pitchFamily="2" charset="0"/>
                <a:ea typeface="Inter 18pt" panose="02000503000000020004" pitchFamily="2" charset="0"/>
              </a:rPr>
              <a:t>BIAM Hostel Management System</a:t>
            </a:r>
          </a:p>
          <a:p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Secure authentication system based on email and password.</a:t>
            </a:r>
          </a:p>
          <a:p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System is protected from brute force attack. Maximum retry level is 05</a:t>
            </a:r>
          </a:p>
        </p:txBody>
      </p:sp>
    </p:spTree>
    <p:extLst>
      <p:ext uri="{BB962C8B-B14F-4D97-AF65-F5344CB8AC3E}">
        <p14:creationId xmlns:p14="http://schemas.microsoft.com/office/powerpoint/2010/main" val="640202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CCDC57-0E3A-47FA-BFCF-94DC9445A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47" y="311155"/>
            <a:ext cx="11647265" cy="54752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EB92C-1695-424F-84E6-3272189D95BA}"/>
              </a:ext>
            </a:extLst>
          </p:cNvPr>
          <p:cNvSpPr txBox="1"/>
          <p:nvPr/>
        </p:nvSpPr>
        <p:spPr>
          <a:xfrm>
            <a:off x="2158779" y="6044891"/>
            <a:ext cx="870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Optimized Feedback system. SMS alert is enabled by default. Multiple number can be added to </a:t>
            </a:r>
            <a:r>
              <a:rPr lang="en-US" sz="1400" dirty="0" err="1">
                <a:latin typeface="Inter 18pt" panose="02000503000000020004" pitchFamily="2" charset="0"/>
                <a:ea typeface="Inter 18pt" panose="02000503000000020004" pitchFamily="2" charset="0"/>
              </a:rPr>
              <a:t>sms</a:t>
            </a:r>
            <a:r>
              <a:rPr lang="en-US" sz="1400" dirty="0">
                <a:latin typeface="Inter 18pt" panose="02000503000000020004" pitchFamily="2" charset="0"/>
                <a:ea typeface="Inter 18pt" panose="02000503000000020004" pitchFamily="2" charset="0"/>
              </a:rPr>
              <a:t> list</a:t>
            </a:r>
          </a:p>
        </p:txBody>
      </p:sp>
    </p:spTree>
    <p:extLst>
      <p:ext uri="{BB962C8B-B14F-4D97-AF65-F5344CB8AC3E}">
        <p14:creationId xmlns:p14="http://schemas.microsoft.com/office/powerpoint/2010/main" val="123459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31622E-AD19-4A14-AD35-CDCF4A092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3" y="293636"/>
            <a:ext cx="10515600" cy="36719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AA728A-5691-4B2A-9956-23E31D6A41C8}"/>
              </a:ext>
            </a:extLst>
          </p:cNvPr>
          <p:cNvSpPr txBox="1"/>
          <p:nvPr/>
        </p:nvSpPr>
        <p:spPr>
          <a:xfrm>
            <a:off x="2234205" y="3429000"/>
            <a:ext cx="772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ter 18pt" panose="02000503000000020004" pitchFamily="2" charset="0"/>
                <a:ea typeface="Inter 18pt" panose="02000503000000020004" pitchFamily="2" charset="0"/>
              </a:rPr>
              <a:t>Provides a concise overview of all feedback received from our guests.</a:t>
            </a:r>
          </a:p>
        </p:txBody>
      </p:sp>
    </p:spTree>
    <p:extLst>
      <p:ext uri="{BB962C8B-B14F-4D97-AF65-F5344CB8AC3E}">
        <p14:creationId xmlns:p14="http://schemas.microsoft.com/office/powerpoint/2010/main" val="937167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175C-50DE-44AF-85F0-D43C66EC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8EB67-3488-467D-86F3-163F2D875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6" y="187894"/>
            <a:ext cx="10397407" cy="49300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E052F-F368-415F-9F6A-B17CB7936523}"/>
              </a:ext>
            </a:extLst>
          </p:cNvPr>
          <p:cNvSpPr txBox="1"/>
          <p:nvPr/>
        </p:nvSpPr>
        <p:spPr>
          <a:xfrm>
            <a:off x="3300313" y="5240740"/>
            <a:ext cx="5100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Feedback details including reporting printing feature</a:t>
            </a:r>
          </a:p>
        </p:txBody>
      </p:sp>
    </p:spTree>
    <p:extLst>
      <p:ext uri="{BB962C8B-B14F-4D97-AF65-F5344CB8AC3E}">
        <p14:creationId xmlns:p14="http://schemas.microsoft.com/office/powerpoint/2010/main" val="351879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A6B58-C087-48B4-8520-DA896E460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65" y="187891"/>
            <a:ext cx="4433641" cy="62809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745F1-81D2-4C3A-88EE-CC54469AC41E}"/>
              </a:ext>
            </a:extLst>
          </p:cNvPr>
          <p:cNvSpPr txBox="1"/>
          <p:nvPr/>
        </p:nvSpPr>
        <p:spPr>
          <a:xfrm>
            <a:off x="5759355" y="2743612"/>
            <a:ext cx="4846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Generated Feedback Report</a:t>
            </a:r>
          </a:p>
        </p:txBody>
      </p:sp>
    </p:spTree>
    <p:extLst>
      <p:ext uri="{BB962C8B-B14F-4D97-AF65-F5344CB8AC3E}">
        <p14:creationId xmlns:p14="http://schemas.microsoft.com/office/powerpoint/2010/main" val="18165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7AA1B-5DA0-4939-AD04-E73937460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044" y="269780"/>
            <a:ext cx="9061411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F7E22-9EE7-4542-B548-D3CEC80535ED}"/>
              </a:ext>
            </a:extLst>
          </p:cNvPr>
          <p:cNvSpPr txBox="1"/>
          <p:nvPr/>
        </p:nvSpPr>
        <p:spPr>
          <a:xfrm>
            <a:off x="1875996" y="5268036"/>
            <a:ext cx="890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is a list of available seats for booking, which can be sorted by AC, Non-AC, and VIP types</a:t>
            </a:r>
          </a:p>
        </p:txBody>
      </p:sp>
    </p:spTree>
    <p:extLst>
      <p:ext uri="{BB962C8B-B14F-4D97-AF65-F5344CB8AC3E}">
        <p14:creationId xmlns:p14="http://schemas.microsoft.com/office/powerpoint/2010/main" val="102967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4226D-BD6A-452D-B09D-D9D6DCEAE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12" y="242484"/>
            <a:ext cx="861696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2BADC-F736-4864-BF39-5CFA0B1DA7BF}"/>
              </a:ext>
            </a:extLst>
          </p:cNvPr>
          <p:cNvSpPr txBox="1"/>
          <p:nvPr/>
        </p:nvSpPr>
        <p:spPr>
          <a:xfrm>
            <a:off x="2483892" y="5308979"/>
            <a:ext cx="784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is a quick look at your booking window and the estimated total for your stay.</a:t>
            </a:r>
          </a:p>
        </p:txBody>
      </p:sp>
    </p:spTree>
    <p:extLst>
      <p:ext uri="{BB962C8B-B14F-4D97-AF65-F5344CB8AC3E}">
        <p14:creationId xmlns:p14="http://schemas.microsoft.com/office/powerpoint/2010/main" val="3344941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B435B8-3160-4E04-A544-56C7FEA881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31" y="116080"/>
            <a:ext cx="10515600" cy="36643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661CB9-26B4-411A-839D-A51B13E44863}"/>
              </a:ext>
            </a:extLst>
          </p:cNvPr>
          <p:cNvSpPr txBox="1"/>
          <p:nvPr/>
        </p:nvSpPr>
        <p:spPr>
          <a:xfrm>
            <a:off x="4203511" y="4285397"/>
            <a:ext cx="354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types of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3842495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717175-66F1-4F58-AA2F-BF135C6A2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626" y="429989"/>
            <a:ext cx="8640381" cy="40582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78A847-A2B9-4A27-92EB-FC13DCCEFF9E}"/>
              </a:ext>
            </a:extLst>
          </p:cNvPr>
          <p:cNvSpPr txBox="1"/>
          <p:nvPr/>
        </p:nvSpPr>
        <p:spPr>
          <a:xfrm>
            <a:off x="4985268" y="4899546"/>
            <a:ext cx="260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Guest Feedback summary</a:t>
            </a:r>
          </a:p>
        </p:txBody>
      </p:sp>
    </p:spTree>
    <p:extLst>
      <p:ext uri="{BB962C8B-B14F-4D97-AF65-F5344CB8AC3E}">
        <p14:creationId xmlns:p14="http://schemas.microsoft.com/office/powerpoint/2010/main" val="1717338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2EEE51-4B9A-4A32-9B9C-C265653FB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5" y="215188"/>
            <a:ext cx="4746477" cy="60315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4B0692-D572-4E23-8A94-406290BCE00B}"/>
              </a:ext>
            </a:extLst>
          </p:cNvPr>
          <p:cNvSpPr txBox="1"/>
          <p:nvPr/>
        </p:nvSpPr>
        <p:spPr>
          <a:xfrm>
            <a:off x="6414448" y="2620370"/>
            <a:ext cx="442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Guest feedback Summary as printable format</a:t>
            </a:r>
          </a:p>
        </p:txBody>
      </p:sp>
    </p:spTree>
    <p:extLst>
      <p:ext uri="{BB962C8B-B14F-4D97-AF65-F5344CB8AC3E}">
        <p14:creationId xmlns:p14="http://schemas.microsoft.com/office/powerpoint/2010/main" val="143802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</TotalTime>
  <Words>1493</Words>
  <Application>Microsoft Office PowerPoint</Application>
  <PresentationFormat>Widescreen</PresentationFormat>
  <Paragraphs>278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Inter 18pt</vt:lpstr>
      <vt:lpstr>JetBrains Mono</vt:lpstr>
      <vt:lpstr>Lato</vt:lpstr>
      <vt:lpstr>Office Theme</vt:lpstr>
      <vt:lpstr>BIAM Feedback and Hostel Management  15/02/2026</vt:lpstr>
      <vt:lpstr>High Level Overview (Updated: 15/02/2026) – Stable </vt:lpstr>
      <vt:lpstr>High Level Overview (Updated: 15/02/2026) – Proposed v1 (BIS) </vt:lpstr>
      <vt:lpstr>High Level Overview (Updated: 23/02/2026) – v1 Stable </vt:lpstr>
      <vt:lpstr>PowerPoint Presentation</vt:lpstr>
      <vt:lpstr>High Level Overview (Updated: 23/02/2026) – v2 Current (Booking system-  github branch (develop-v2) </vt:lpstr>
      <vt:lpstr>High Level Overview (Updated: 23/02/2026) – v2 Current (Booking system)- Terms </vt:lpstr>
      <vt:lpstr>Models (Part-01)</vt:lpstr>
      <vt:lpstr>Relationship</vt:lpstr>
      <vt:lpstr>Deployment in Production (Part-01)</vt:lpstr>
      <vt:lpstr>PowerPoint Presentation</vt:lpstr>
      <vt:lpstr>BIAM Feedback and Hostel Management  15/02/2026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BIAM Recruitment Exam</dc:title>
  <dc:creator>BIAM</dc:creator>
  <cp:lastModifiedBy>BIAM</cp:lastModifiedBy>
  <cp:revision>258</cp:revision>
  <cp:lastPrinted>2026-02-23T05:37:21Z</cp:lastPrinted>
  <dcterms:created xsi:type="dcterms:W3CDTF">2026-01-11T08:37:07Z</dcterms:created>
  <dcterms:modified xsi:type="dcterms:W3CDTF">2026-03-05T09:42:12Z</dcterms:modified>
</cp:coreProperties>
</file>